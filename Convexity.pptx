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JetBrains Mono" charset="1" panose="02010509020102050004"/>
      <p:regular r:id="rId39"/>
    </p:embeddedFont>
    <p:embeddedFont>
      <p:font typeface="Intro" charset="1" panose="02000000000000000000"/>
      <p:regular r:id="rId40"/>
    </p:embeddedFont>
    <p:embeddedFont>
      <p:font typeface="JetBrains Mono Bold Italics" charset="1" panose="02010809030102050004"/>
      <p:regular r:id="rId41"/>
    </p:embeddedFont>
    <p:embeddedFont>
      <p:font typeface="JetBrains Mono Bold" charset="1" panose="02010809030102050004"/>
      <p:regular r:id="rId42"/>
    </p:embeddedFont>
    <p:embeddedFont>
      <p:font typeface="Canva Sans Bold" charset="1" panose="020B0803030501040103"/>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gif"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1.png" Type="http://schemas.openxmlformats.org/officeDocument/2006/relationships/image"/><Relationship Id="rId7"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0.pn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3.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44.png" Type="http://schemas.openxmlformats.org/officeDocument/2006/relationships/image"/><Relationship Id="rId8" Target="../media/image45.png" Type="http://schemas.openxmlformats.org/officeDocument/2006/relationships/image"/><Relationship Id="rId9" Target="../media/image4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3.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4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5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5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2.gif"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3.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5857284"/>
            <a:chOff x="0" y="0"/>
            <a:chExt cx="5157348" cy="1542659"/>
          </a:xfrm>
        </p:grpSpPr>
        <p:sp>
          <p:nvSpPr>
            <p:cNvPr name="Freeform 7" id="7"/>
            <p:cNvSpPr/>
            <p:nvPr/>
          </p:nvSpPr>
          <p:spPr>
            <a:xfrm flipH="false" flipV="false" rot="0">
              <a:off x="0" y="0"/>
              <a:ext cx="5157348" cy="1542659"/>
            </a:xfrm>
            <a:custGeom>
              <a:avLst/>
              <a:gdLst/>
              <a:ahLst/>
              <a:cxnLst/>
              <a:rect r="r" b="b" t="t" l="l"/>
              <a:pathLst>
                <a:path h="1542659" w="5157348">
                  <a:moveTo>
                    <a:pt x="0" y="0"/>
                  </a:moveTo>
                  <a:lnTo>
                    <a:pt x="5157348" y="0"/>
                  </a:lnTo>
                  <a:lnTo>
                    <a:pt x="5157348" y="1542659"/>
                  </a:lnTo>
                  <a:lnTo>
                    <a:pt x="0" y="1542659"/>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580759"/>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1023349">
            <a:off x="-1505583" y="4964887"/>
            <a:ext cx="3902895" cy="4856544"/>
          </a:xfrm>
          <a:custGeom>
            <a:avLst/>
            <a:gdLst/>
            <a:ahLst/>
            <a:cxnLst/>
            <a:rect r="r" b="b" t="t" l="l"/>
            <a:pathLst>
              <a:path h="4856544" w="3902895">
                <a:moveTo>
                  <a:pt x="0" y="0"/>
                </a:moveTo>
                <a:lnTo>
                  <a:pt x="3902895" y="0"/>
                </a:lnTo>
                <a:lnTo>
                  <a:pt x="3902895" y="4856544"/>
                </a:lnTo>
                <a:lnTo>
                  <a:pt x="0" y="48565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4244569">
            <a:off x="15467281" y="1013610"/>
            <a:ext cx="3584039" cy="5093595"/>
          </a:xfrm>
          <a:custGeom>
            <a:avLst/>
            <a:gdLst/>
            <a:ahLst/>
            <a:cxnLst/>
            <a:rect r="r" b="b" t="t" l="l"/>
            <a:pathLst>
              <a:path h="5093595" w="3584039">
                <a:moveTo>
                  <a:pt x="0" y="0"/>
                </a:moveTo>
                <a:lnTo>
                  <a:pt x="3584038" y="0"/>
                </a:lnTo>
                <a:lnTo>
                  <a:pt x="3584038" y="5093596"/>
                </a:lnTo>
                <a:lnTo>
                  <a:pt x="0" y="5093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343846" y="3943000"/>
            <a:ext cx="10163511" cy="4573889"/>
            <a:chOff x="0" y="0"/>
            <a:chExt cx="13551348" cy="6098518"/>
          </a:xfrm>
        </p:grpSpPr>
        <p:sp>
          <p:nvSpPr>
            <p:cNvPr name="TextBox 12" id="12"/>
            <p:cNvSpPr txBox="true"/>
            <p:nvPr/>
          </p:nvSpPr>
          <p:spPr>
            <a:xfrm rot="0">
              <a:off x="0" y="-123825"/>
              <a:ext cx="13551348" cy="4187811"/>
            </a:xfrm>
            <a:prstGeom prst="rect">
              <a:avLst/>
            </a:prstGeom>
          </p:spPr>
          <p:txBody>
            <a:bodyPr anchor="t" rtlCol="false" tIns="0" lIns="0" bIns="0" rIns="0">
              <a:spAutoFit/>
            </a:bodyPr>
            <a:lstStyle/>
            <a:p>
              <a:pPr algn="l">
                <a:lnSpc>
                  <a:spcPts val="8400"/>
                </a:lnSpc>
              </a:pPr>
              <a:r>
                <a:rPr lang="en-US" sz="6000">
                  <a:solidFill>
                    <a:srgbClr val="000000"/>
                  </a:solidFill>
                  <a:latin typeface="JetBrains Mono"/>
                  <a:ea typeface="JetBrains Mono"/>
                  <a:cs typeface="JetBrains Mono"/>
                  <a:sym typeface="JetBrains Mono"/>
                </a:rPr>
                <a:t>Optimization in Deep Learning: Concepts &amp; Convexity</a:t>
              </a:r>
            </a:p>
          </p:txBody>
        </p:sp>
        <p:sp>
          <p:nvSpPr>
            <p:cNvPr name="TextBox 13" id="13"/>
            <p:cNvSpPr txBox="true"/>
            <p:nvPr/>
          </p:nvSpPr>
          <p:spPr>
            <a:xfrm rot="0">
              <a:off x="0" y="4025886"/>
              <a:ext cx="13551348" cy="2072632"/>
            </a:xfrm>
            <a:prstGeom prst="rect">
              <a:avLst/>
            </a:prstGeom>
          </p:spPr>
          <p:txBody>
            <a:bodyPr anchor="t" rtlCol="false" tIns="0" lIns="0" bIns="0" rIns="0">
              <a:spAutoFit/>
            </a:bodyPr>
            <a:lstStyle/>
            <a:p>
              <a:pPr algn="l">
                <a:lnSpc>
                  <a:spcPts val="13020"/>
                </a:lnSpc>
              </a:pPr>
            </a:p>
          </p:txBody>
        </p:sp>
      </p:grpSp>
      <p:sp>
        <p:nvSpPr>
          <p:cNvPr name="TextBox 14" id="14"/>
          <p:cNvSpPr txBox="true"/>
          <p:nvPr/>
        </p:nvSpPr>
        <p:spPr>
          <a:xfrm rot="0">
            <a:off x="4343846" y="1204511"/>
            <a:ext cx="5806945" cy="1193800"/>
          </a:xfrm>
          <a:prstGeom prst="rect">
            <a:avLst/>
          </a:prstGeom>
        </p:spPr>
        <p:txBody>
          <a:bodyPr anchor="t" rtlCol="false" tIns="0" lIns="0" bIns="0" rIns="0">
            <a:spAutoFit/>
          </a:bodyPr>
          <a:lstStyle/>
          <a:p>
            <a:pPr algn="l">
              <a:lnSpc>
                <a:spcPts val="9799"/>
              </a:lnSpc>
            </a:pPr>
            <a:r>
              <a:rPr lang="en-US" sz="6999">
                <a:solidFill>
                  <a:srgbClr val="000000"/>
                </a:solidFill>
                <a:latin typeface="Intro"/>
                <a:ea typeface="Intro"/>
                <a:cs typeface="Intro"/>
                <a:sym typeface="Intro"/>
              </a:rPr>
              <a:t>MATHS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464304" y="7890878"/>
            <a:ext cx="2488341" cy="2117352"/>
          </a:xfrm>
          <a:custGeom>
            <a:avLst/>
            <a:gdLst/>
            <a:ahLst/>
            <a:cxnLst/>
            <a:rect r="r" b="b" t="t" l="l"/>
            <a:pathLst>
              <a:path h="2117352" w="2488341">
                <a:moveTo>
                  <a:pt x="2488341" y="0"/>
                </a:moveTo>
                <a:lnTo>
                  <a:pt x="0" y="0"/>
                </a:lnTo>
                <a:lnTo>
                  <a:pt x="0" y="2117352"/>
                </a:lnTo>
                <a:lnTo>
                  <a:pt x="2488341" y="2117352"/>
                </a:lnTo>
                <a:lnTo>
                  <a:pt x="248834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6960672" y="7890878"/>
            <a:ext cx="2426255" cy="2064523"/>
          </a:xfrm>
          <a:custGeom>
            <a:avLst/>
            <a:gdLst/>
            <a:ahLst/>
            <a:cxnLst/>
            <a:rect r="r" b="b" t="t" l="l"/>
            <a:pathLst>
              <a:path h="2064523" w="2426255">
                <a:moveTo>
                  <a:pt x="2426255" y="0"/>
                </a:moveTo>
                <a:lnTo>
                  <a:pt x="0" y="0"/>
                </a:lnTo>
                <a:lnTo>
                  <a:pt x="0" y="2064523"/>
                </a:lnTo>
                <a:lnTo>
                  <a:pt x="2426255" y="2064523"/>
                </a:lnTo>
                <a:lnTo>
                  <a:pt x="24262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12394953" y="7864464"/>
            <a:ext cx="2488341" cy="2117352"/>
          </a:xfrm>
          <a:custGeom>
            <a:avLst/>
            <a:gdLst/>
            <a:ahLst/>
            <a:cxnLst/>
            <a:rect r="r" b="b" t="t" l="l"/>
            <a:pathLst>
              <a:path h="2117352" w="2488341">
                <a:moveTo>
                  <a:pt x="2488341" y="0"/>
                </a:moveTo>
                <a:lnTo>
                  <a:pt x="0" y="0"/>
                </a:lnTo>
                <a:lnTo>
                  <a:pt x="0" y="2117352"/>
                </a:lnTo>
                <a:lnTo>
                  <a:pt x="2488341" y="2117352"/>
                </a:lnTo>
                <a:lnTo>
                  <a:pt x="2488341"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2" id="12"/>
          <p:cNvPicPr>
            <a:picLocks noChangeAspect="true"/>
          </p:cNvPicPr>
          <p:nvPr/>
        </p:nvPicPr>
        <p:blipFill>
          <a:blip r:embed="rId6"/>
          <a:srcRect l="0" t="29" r="0" b="29"/>
          <a:stretch>
            <a:fillRect/>
          </a:stretch>
        </p:blipFill>
        <p:spPr>
          <a:xfrm flipH="false" flipV="false" rot="0">
            <a:off x="12654773" y="2532643"/>
            <a:ext cx="4457042" cy="5182607"/>
          </a:xfrm>
          <a:prstGeom prst="rect">
            <a:avLst/>
          </a:prstGeom>
        </p:spPr>
      </p:pic>
      <p:sp>
        <p:nvSpPr>
          <p:cNvPr name="TextBox 13" id="13"/>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TEAM MEMBER</a:t>
            </a:r>
          </a:p>
        </p:txBody>
      </p:sp>
      <p:sp>
        <p:nvSpPr>
          <p:cNvPr name="TextBox 14" id="14"/>
          <p:cNvSpPr txBox="true"/>
          <p:nvPr/>
        </p:nvSpPr>
        <p:spPr>
          <a:xfrm rot="0">
            <a:off x="1464304" y="4322562"/>
            <a:ext cx="13191120" cy="26479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JetBrains Mono"/>
                <a:ea typeface="JetBrains Mono"/>
                <a:cs typeface="JetBrains Mono"/>
                <a:sym typeface="JetBrains Mono"/>
              </a:rPr>
              <a:t>Nguyễn Minh Tuấn - 2470574</a:t>
            </a:r>
          </a:p>
          <a:p>
            <a:pPr algn="l" marL="647700" indent="-323850" lvl="1">
              <a:lnSpc>
                <a:spcPts val="4200"/>
              </a:lnSpc>
              <a:buFont typeface="Arial"/>
              <a:buChar char="•"/>
            </a:pPr>
            <a:r>
              <a:rPr lang="en-US" sz="3000">
                <a:solidFill>
                  <a:srgbClr val="000000"/>
                </a:solidFill>
                <a:latin typeface="JetBrains Mono"/>
                <a:ea typeface="JetBrains Mono"/>
                <a:cs typeface="JetBrains Mono"/>
                <a:sym typeface="JetBrains Mono"/>
              </a:rPr>
              <a:t>Nguyễn Trần Phước - 2470576</a:t>
            </a:r>
          </a:p>
          <a:p>
            <a:pPr algn="l" marL="647700" indent="-323850" lvl="1">
              <a:lnSpc>
                <a:spcPts val="4200"/>
              </a:lnSpc>
              <a:buFont typeface="Arial"/>
              <a:buChar char="•"/>
            </a:pPr>
            <a:r>
              <a:rPr lang="en-US" sz="3000">
                <a:solidFill>
                  <a:srgbClr val="000000"/>
                </a:solidFill>
                <a:latin typeface="JetBrains Mono"/>
                <a:ea typeface="JetBrains Mono"/>
                <a:cs typeface="JetBrains Mono"/>
                <a:sym typeface="JetBrains Mono"/>
              </a:rPr>
              <a:t>Lê Trí Quyền - 2470740</a:t>
            </a:r>
          </a:p>
          <a:p>
            <a:pPr algn="l" marL="647700" indent="-323850" lvl="1">
              <a:lnSpc>
                <a:spcPts val="4200"/>
              </a:lnSpc>
              <a:buFont typeface="Arial"/>
              <a:buChar char="•"/>
            </a:pPr>
            <a:r>
              <a:rPr lang="en-US" sz="3000">
                <a:solidFill>
                  <a:srgbClr val="000000"/>
                </a:solidFill>
                <a:latin typeface="JetBrains Mono"/>
                <a:ea typeface="JetBrains Mono"/>
                <a:cs typeface="JetBrains Mono"/>
                <a:sym typeface="JetBrains Mono"/>
              </a:rPr>
              <a:t>Lê Quang Trung - 2470746</a:t>
            </a:r>
          </a:p>
          <a:p>
            <a:pPr algn="l" marL="647700" indent="-323850" lvl="1">
              <a:lnSpc>
                <a:spcPts val="4200"/>
              </a:lnSpc>
              <a:buFont typeface="Arial"/>
              <a:buChar char="•"/>
            </a:pPr>
            <a:r>
              <a:rPr lang="en-US" sz="3000">
                <a:solidFill>
                  <a:srgbClr val="000000"/>
                </a:solidFill>
                <a:latin typeface="JetBrains Mono"/>
                <a:ea typeface="JetBrains Mono"/>
                <a:cs typeface="JetBrains Mono"/>
                <a:sym typeface="JetBrains Mono"/>
              </a:rPr>
              <a:t>Trần Hoàng Nguyên - 2470739</a:t>
            </a:r>
          </a:p>
        </p:txBody>
      </p:sp>
      <p:sp>
        <p:nvSpPr>
          <p:cNvPr name="TextBox 15" id="15"/>
          <p:cNvSpPr txBox="true"/>
          <p:nvPr/>
        </p:nvSpPr>
        <p:spPr>
          <a:xfrm rot="0">
            <a:off x="1841945" y="8455249"/>
            <a:ext cx="1733058" cy="653843"/>
          </a:xfrm>
          <a:prstGeom prst="rect">
            <a:avLst/>
          </a:prstGeom>
        </p:spPr>
        <p:txBody>
          <a:bodyPr anchor="t" rtlCol="false" tIns="0" lIns="0" bIns="0" rIns="0">
            <a:spAutoFit/>
          </a:bodyPr>
          <a:lstStyle/>
          <a:p>
            <a:pPr algn="ctr">
              <a:lnSpc>
                <a:spcPts val="5436"/>
              </a:lnSpc>
            </a:pPr>
            <a:r>
              <a:rPr lang="en-US" sz="3883">
                <a:solidFill>
                  <a:srgbClr val="000000"/>
                </a:solidFill>
                <a:latin typeface="JetBrains Mono"/>
                <a:ea typeface="JetBrains Mono"/>
                <a:cs typeface="JetBrains Mono"/>
                <a:sym typeface="JetBrains Mono"/>
              </a:rPr>
              <a:t>THINK</a:t>
            </a:r>
          </a:p>
        </p:txBody>
      </p:sp>
      <p:sp>
        <p:nvSpPr>
          <p:cNvPr name="TextBox 16" id="16"/>
          <p:cNvSpPr txBox="true"/>
          <p:nvPr/>
        </p:nvSpPr>
        <p:spPr>
          <a:xfrm rot="0">
            <a:off x="7328891" y="8439504"/>
            <a:ext cx="1689817" cy="637254"/>
          </a:xfrm>
          <a:prstGeom prst="rect">
            <a:avLst/>
          </a:prstGeom>
        </p:spPr>
        <p:txBody>
          <a:bodyPr anchor="t" rtlCol="false" tIns="0" lIns="0" bIns="0" rIns="0">
            <a:spAutoFit/>
          </a:bodyPr>
          <a:lstStyle/>
          <a:p>
            <a:pPr algn="ctr">
              <a:lnSpc>
                <a:spcPts val="5300"/>
              </a:lnSpc>
            </a:pPr>
            <a:r>
              <a:rPr lang="en-US" sz="3786">
                <a:solidFill>
                  <a:srgbClr val="000000"/>
                </a:solidFill>
                <a:latin typeface="JetBrains Mono"/>
                <a:ea typeface="JetBrains Mono"/>
                <a:cs typeface="JetBrains Mono"/>
                <a:sym typeface="JetBrains Mono"/>
              </a:rPr>
              <a:t>PAIR</a:t>
            </a:r>
          </a:p>
        </p:txBody>
      </p:sp>
      <p:sp>
        <p:nvSpPr>
          <p:cNvPr name="TextBox 17" id="17"/>
          <p:cNvSpPr txBox="true"/>
          <p:nvPr/>
        </p:nvSpPr>
        <p:spPr>
          <a:xfrm rot="0">
            <a:off x="12772595" y="8428835"/>
            <a:ext cx="1733058" cy="653843"/>
          </a:xfrm>
          <a:prstGeom prst="rect">
            <a:avLst/>
          </a:prstGeom>
        </p:spPr>
        <p:txBody>
          <a:bodyPr anchor="t" rtlCol="false" tIns="0" lIns="0" bIns="0" rIns="0">
            <a:spAutoFit/>
          </a:bodyPr>
          <a:lstStyle/>
          <a:p>
            <a:pPr algn="ctr">
              <a:lnSpc>
                <a:spcPts val="5436"/>
              </a:lnSpc>
            </a:pPr>
            <a:r>
              <a:rPr lang="en-US" sz="3883">
                <a:solidFill>
                  <a:srgbClr val="000000"/>
                </a:solidFill>
                <a:latin typeface="JetBrains Mono"/>
                <a:ea typeface="JetBrains Mono"/>
                <a:cs typeface="JetBrains Mono"/>
                <a:sym typeface="JetBrains Mono"/>
              </a:rPr>
              <a:t>SHARE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867136" y="3218817"/>
            <a:ext cx="776578" cy="1039216"/>
          </a:xfrm>
          <a:custGeom>
            <a:avLst/>
            <a:gdLst/>
            <a:ahLst/>
            <a:cxnLst/>
            <a:rect r="r" b="b" t="t" l="l"/>
            <a:pathLst>
              <a:path h="1039216" w="776578">
                <a:moveTo>
                  <a:pt x="0" y="0"/>
                </a:moveTo>
                <a:lnTo>
                  <a:pt x="776578" y="0"/>
                </a:lnTo>
                <a:lnTo>
                  <a:pt x="776578" y="1039216"/>
                </a:lnTo>
                <a:lnTo>
                  <a:pt x="0" y="10392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67136" y="4370667"/>
            <a:ext cx="776578" cy="1039216"/>
          </a:xfrm>
          <a:custGeom>
            <a:avLst/>
            <a:gdLst/>
            <a:ahLst/>
            <a:cxnLst/>
            <a:rect r="r" b="b" t="t" l="l"/>
            <a:pathLst>
              <a:path h="1039216" w="776578">
                <a:moveTo>
                  <a:pt x="0" y="0"/>
                </a:moveTo>
                <a:lnTo>
                  <a:pt x="776578" y="0"/>
                </a:lnTo>
                <a:lnTo>
                  <a:pt x="776578" y="1039217"/>
                </a:lnTo>
                <a:lnTo>
                  <a:pt x="0" y="10392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867136" y="5522518"/>
            <a:ext cx="776578" cy="1039216"/>
          </a:xfrm>
          <a:custGeom>
            <a:avLst/>
            <a:gdLst/>
            <a:ahLst/>
            <a:cxnLst/>
            <a:rect r="r" b="b" t="t" l="l"/>
            <a:pathLst>
              <a:path h="1039216" w="776578">
                <a:moveTo>
                  <a:pt x="0" y="0"/>
                </a:moveTo>
                <a:lnTo>
                  <a:pt x="776578" y="0"/>
                </a:lnTo>
                <a:lnTo>
                  <a:pt x="776578" y="1039216"/>
                </a:lnTo>
                <a:lnTo>
                  <a:pt x="0" y="10392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867136" y="6676034"/>
            <a:ext cx="776578" cy="1039216"/>
          </a:xfrm>
          <a:custGeom>
            <a:avLst/>
            <a:gdLst/>
            <a:ahLst/>
            <a:cxnLst/>
            <a:rect r="r" b="b" t="t" l="l"/>
            <a:pathLst>
              <a:path h="1039216" w="776578">
                <a:moveTo>
                  <a:pt x="0" y="0"/>
                </a:moveTo>
                <a:lnTo>
                  <a:pt x="776578" y="0"/>
                </a:lnTo>
                <a:lnTo>
                  <a:pt x="776578" y="1039216"/>
                </a:lnTo>
                <a:lnTo>
                  <a:pt x="0" y="10392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3" id="13"/>
          <p:cNvPicPr>
            <a:picLocks noChangeAspect="true"/>
          </p:cNvPicPr>
          <p:nvPr/>
        </p:nvPicPr>
        <p:blipFill>
          <a:blip r:embed="rId6"/>
          <a:srcRect l="0" t="0" r="0" b="0"/>
          <a:stretch>
            <a:fillRect/>
          </a:stretch>
        </p:blipFill>
        <p:spPr>
          <a:xfrm flipH="false" flipV="false" rot="0">
            <a:off x="13174926" y="3744475"/>
            <a:ext cx="4625799" cy="4301993"/>
          </a:xfrm>
          <a:prstGeom prst="rect">
            <a:avLst/>
          </a:prstGeom>
        </p:spPr>
      </p:pic>
      <p:sp>
        <p:nvSpPr>
          <p:cNvPr name="TextBox 14" id="14"/>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TABLE CONTENT</a:t>
            </a:r>
          </a:p>
        </p:txBody>
      </p:sp>
      <p:sp>
        <p:nvSpPr>
          <p:cNvPr name="TextBox 15" id="15"/>
          <p:cNvSpPr txBox="true"/>
          <p:nvPr/>
        </p:nvSpPr>
        <p:spPr>
          <a:xfrm rot="0">
            <a:off x="2061472" y="3452675"/>
            <a:ext cx="11757527" cy="5143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Optimization &amp; Deep learning</a:t>
            </a:r>
          </a:p>
        </p:txBody>
      </p:sp>
      <p:sp>
        <p:nvSpPr>
          <p:cNvPr name="TextBox 16" id="16"/>
          <p:cNvSpPr txBox="true"/>
          <p:nvPr/>
        </p:nvSpPr>
        <p:spPr>
          <a:xfrm rot="0">
            <a:off x="2061472" y="4576625"/>
            <a:ext cx="11757527" cy="5143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Optimization issues</a:t>
            </a:r>
          </a:p>
        </p:txBody>
      </p:sp>
      <p:sp>
        <p:nvSpPr>
          <p:cNvPr name="TextBox 17" id="17"/>
          <p:cNvSpPr txBox="true"/>
          <p:nvPr/>
        </p:nvSpPr>
        <p:spPr>
          <a:xfrm rot="0">
            <a:off x="2061472" y="5700575"/>
            <a:ext cx="11757527" cy="5143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Convexity: Convex Sets &amp; Convex Functions</a:t>
            </a:r>
          </a:p>
        </p:txBody>
      </p:sp>
      <p:sp>
        <p:nvSpPr>
          <p:cNvPr name="TextBox 18" id="18"/>
          <p:cNvSpPr txBox="true"/>
          <p:nvPr/>
        </p:nvSpPr>
        <p:spPr>
          <a:xfrm rot="0">
            <a:off x="2061472" y="6854091"/>
            <a:ext cx="11757527" cy="5143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Key property &amp; Constraint</a:t>
            </a:r>
          </a:p>
        </p:txBody>
      </p:sp>
      <p:sp>
        <p:nvSpPr>
          <p:cNvPr name="Freeform 19" id="19"/>
          <p:cNvSpPr/>
          <p:nvPr/>
        </p:nvSpPr>
        <p:spPr>
          <a:xfrm flipH="false" flipV="false" rot="0">
            <a:off x="867136" y="7829550"/>
            <a:ext cx="776578" cy="1039216"/>
          </a:xfrm>
          <a:custGeom>
            <a:avLst/>
            <a:gdLst/>
            <a:ahLst/>
            <a:cxnLst/>
            <a:rect r="r" b="b" t="t" l="l"/>
            <a:pathLst>
              <a:path h="1039216" w="776578">
                <a:moveTo>
                  <a:pt x="0" y="0"/>
                </a:moveTo>
                <a:lnTo>
                  <a:pt x="776578" y="0"/>
                </a:lnTo>
                <a:lnTo>
                  <a:pt x="776578" y="1039216"/>
                </a:lnTo>
                <a:lnTo>
                  <a:pt x="0" y="10392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2061472" y="8007607"/>
            <a:ext cx="11757527" cy="5143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Exercise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817228" y="1386234"/>
            <a:ext cx="781766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a:t>
            </a:r>
          </a:p>
        </p:txBody>
      </p:sp>
      <p:sp>
        <p:nvSpPr>
          <p:cNvPr name="TextBox 10" id="10"/>
          <p:cNvSpPr txBox="true"/>
          <p:nvPr/>
        </p:nvSpPr>
        <p:spPr>
          <a:xfrm rot="0">
            <a:off x="2736225" y="4173032"/>
            <a:ext cx="9630963" cy="570865"/>
          </a:xfrm>
          <a:prstGeom prst="rect">
            <a:avLst/>
          </a:prstGeom>
        </p:spPr>
        <p:txBody>
          <a:bodyPr anchor="t" rtlCol="false" tIns="0" lIns="0" bIns="0" rIns="0">
            <a:spAutoFit/>
          </a:bodyPr>
          <a:lstStyle/>
          <a:p>
            <a:pPr algn="just">
              <a:lnSpc>
                <a:spcPts val="4760"/>
              </a:lnSpc>
            </a:pPr>
            <a:r>
              <a:rPr lang="en-US" sz="3400">
                <a:solidFill>
                  <a:srgbClr val="000000"/>
                </a:solidFill>
                <a:latin typeface="JetBrains Mono"/>
                <a:ea typeface="JetBrains Mono"/>
                <a:cs typeface="JetBrains Mono"/>
                <a:sym typeface="JetBrains Mono"/>
              </a:rPr>
              <a:t>Minimize the loss function</a:t>
            </a:r>
          </a:p>
        </p:txBody>
      </p:sp>
      <p:sp>
        <p:nvSpPr>
          <p:cNvPr name="Freeform 11" id="11"/>
          <p:cNvSpPr/>
          <p:nvPr/>
        </p:nvSpPr>
        <p:spPr>
          <a:xfrm flipH="false" flipV="false" rot="0">
            <a:off x="1028700" y="3672586"/>
            <a:ext cx="1217239" cy="1628908"/>
          </a:xfrm>
          <a:custGeom>
            <a:avLst/>
            <a:gdLst/>
            <a:ahLst/>
            <a:cxnLst/>
            <a:rect r="r" b="b" t="t" l="l"/>
            <a:pathLst>
              <a:path h="1628908" w="1217239">
                <a:moveTo>
                  <a:pt x="0" y="0"/>
                </a:moveTo>
                <a:lnTo>
                  <a:pt x="1217239" y="0"/>
                </a:lnTo>
                <a:lnTo>
                  <a:pt x="1217239" y="1628908"/>
                </a:lnTo>
                <a:lnTo>
                  <a:pt x="0" y="16289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28700" y="6015673"/>
            <a:ext cx="1217239" cy="1628908"/>
          </a:xfrm>
          <a:custGeom>
            <a:avLst/>
            <a:gdLst/>
            <a:ahLst/>
            <a:cxnLst/>
            <a:rect r="r" b="b" t="t" l="l"/>
            <a:pathLst>
              <a:path h="1628908" w="1217239">
                <a:moveTo>
                  <a:pt x="0" y="0"/>
                </a:moveTo>
                <a:lnTo>
                  <a:pt x="1217239" y="0"/>
                </a:lnTo>
                <a:lnTo>
                  <a:pt x="1217239" y="1628908"/>
                </a:lnTo>
                <a:lnTo>
                  <a:pt x="0" y="16289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2736225" y="6516119"/>
            <a:ext cx="9630963" cy="570865"/>
          </a:xfrm>
          <a:prstGeom prst="rect">
            <a:avLst/>
          </a:prstGeom>
        </p:spPr>
        <p:txBody>
          <a:bodyPr anchor="t" rtlCol="false" tIns="0" lIns="0" bIns="0" rIns="0">
            <a:spAutoFit/>
          </a:bodyPr>
          <a:lstStyle/>
          <a:p>
            <a:pPr algn="just">
              <a:lnSpc>
                <a:spcPts val="4760"/>
              </a:lnSpc>
            </a:pPr>
            <a:r>
              <a:rPr lang="en-US" sz="3400">
                <a:solidFill>
                  <a:srgbClr val="000000"/>
                </a:solidFill>
                <a:latin typeface="JetBrains Mono"/>
                <a:ea typeface="JetBrains Mono"/>
                <a:cs typeface="JetBrains Mono"/>
                <a:sym typeface="JetBrains Mono"/>
              </a:rPr>
              <a:t>Reduce the training error</a:t>
            </a:r>
          </a:p>
        </p:txBody>
      </p:sp>
      <p:sp>
        <p:nvSpPr>
          <p:cNvPr name="Freeform 14" id="14"/>
          <p:cNvSpPr/>
          <p:nvPr/>
        </p:nvSpPr>
        <p:spPr>
          <a:xfrm flipH="false" flipV="false" rot="0">
            <a:off x="13111620" y="3792787"/>
            <a:ext cx="4440039" cy="6074680"/>
          </a:xfrm>
          <a:custGeom>
            <a:avLst/>
            <a:gdLst/>
            <a:ahLst/>
            <a:cxnLst/>
            <a:rect r="r" b="b" t="t" l="l"/>
            <a:pathLst>
              <a:path h="6074680" w="4440039">
                <a:moveTo>
                  <a:pt x="0" y="0"/>
                </a:moveTo>
                <a:lnTo>
                  <a:pt x="4440039" y="0"/>
                </a:lnTo>
                <a:lnTo>
                  <a:pt x="4440039" y="6074680"/>
                </a:lnTo>
                <a:lnTo>
                  <a:pt x="0" y="6074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28700" y="3672586"/>
            <a:ext cx="1217239" cy="1628908"/>
          </a:xfrm>
          <a:custGeom>
            <a:avLst/>
            <a:gdLst/>
            <a:ahLst/>
            <a:cxnLst/>
            <a:rect r="r" b="b" t="t" l="l"/>
            <a:pathLst>
              <a:path h="1628908" w="1217239">
                <a:moveTo>
                  <a:pt x="0" y="0"/>
                </a:moveTo>
                <a:lnTo>
                  <a:pt x="1217239" y="0"/>
                </a:lnTo>
                <a:lnTo>
                  <a:pt x="1217239" y="1628908"/>
                </a:lnTo>
                <a:lnTo>
                  <a:pt x="0" y="16289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6015673"/>
            <a:ext cx="1217239" cy="1628908"/>
          </a:xfrm>
          <a:custGeom>
            <a:avLst/>
            <a:gdLst/>
            <a:ahLst/>
            <a:cxnLst/>
            <a:rect r="r" b="b" t="t" l="l"/>
            <a:pathLst>
              <a:path h="1628908" w="1217239">
                <a:moveTo>
                  <a:pt x="0" y="0"/>
                </a:moveTo>
                <a:lnTo>
                  <a:pt x="1217239" y="0"/>
                </a:lnTo>
                <a:lnTo>
                  <a:pt x="1217239" y="1628908"/>
                </a:lnTo>
                <a:lnTo>
                  <a:pt x="0" y="16289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419746" y="4487040"/>
            <a:ext cx="6868254" cy="4815672"/>
          </a:xfrm>
          <a:custGeom>
            <a:avLst/>
            <a:gdLst/>
            <a:ahLst/>
            <a:cxnLst/>
            <a:rect r="r" b="b" t="t" l="l"/>
            <a:pathLst>
              <a:path h="4815672" w="6868254">
                <a:moveTo>
                  <a:pt x="0" y="0"/>
                </a:moveTo>
                <a:lnTo>
                  <a:pt x="6868254" y="0"/>
                </a:lnTo>
                <a:lnTo>
                  <a:pt x="6868254" y="4815672"/>
                </a:lnTo>
                <a:lnTo>
                  <a:pt x="0" y="4815672"/>
                </a:lnTo>
                <a:lnTo>
                  <a:pt x="0" y="0"/>
                </a:lnTo>
                <a:close/>
              </a:path>
            </a:pathLst>
          </a:custGeom>
          <a:blipFill>
            <a:blip r:embed="rId6"/>
            <a:stretch>
              <a:fillRect l="0" t="0" r="0" b="0"/>
            </a:stretch>
          </a:blipFill>
        </p:spPr>
      </p:sp>
      <p:sp>
        <p:nvSpPr>
          <p:cNvPr name="TextBox 12" id="12"/>
          <p:cNvSpPr txBox="true"/>
          <p:nvPr/>
        </p:nvSpPr>
        <p:spPr>
          <a:xfrm rot="0">
            <a:off x="3817228" y="1386234"/>
            <a:ext cx="781766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DEEP LEARNING</a:t>
            </a:r>
          </a:p>
        </p:txBody>
      </p:sp>
      <p:sp>
        <p:nvSpPr>
          <p:cNvPr name="TextBox 13" id="13"/>
          <p:cNvSpPr txBox="true"/>
          <p:nvPr/>
        </p:nvSpPr>
        <p:spPr>
          <a:xfrm rot="0">
            <a:off x="2736225" y="3872995"/>
            <a:ext cx="9630963" cy="1170940"/>
          </a:xfrm>
          <a:prstGeom prst="rect">
            <a:avLst/>
          </a:prstGeom>
        </p:spPr>
        <p:txBody>
          <a:bodyPr anchor="t" rtlCol="false" tIns="0" lIns="0" bIns="0" rIns="0">
            <a:spAutoFit/>
          </a:bodyPr>
          <a:lstStyle/>
          <a:p>
            <a:pPr algn="just">
              <a:lnSpc>
                <a:spcPts val="4760"/>
              </a:lnSpc>
            </a:pPr>
            <a:r>
              <a:rPr lang="en-US" sz="3400">
                <a:solidFill>
                  <a:srgbClr val="000000"/>
                </a:solidFill>
                <a:latin typeface="JetBrains Mono"/>
                <a:ea typeface="JetBrains Mono"/>
                <a:cs typeface="JetBrains Mono"/>
                <a:sym typeface="JetBrains Mono"/>
              </a:rPr>
              <a:t>Finding a suitable model, given a finite amount of data</a:t>
            </a:r>
          </a:p>
        </p:txBody>
      </p:sp>
      <p:sp>
        <p:nvSpPr>
          <p:cNvPr name="TextBox 14" id="14"/>
          <p:cNvSpPr txBox="true"/>
          <p:nvPr/>
        </p:nvSpPr>
        <p:spPr>
          <a:xfrm rot="0">
            <a:off x="2736225" y="6516119"/>
            <a:ext cx="9630963" cy="570865"/>
          </a:xfrm>
          <a:prstGeom prst="rect">
            <a:avLst/>
          </a:prstGeom>
        </p:spPr>
        <p:txBody>
          <a:bodyPr anchor="t" rtlCol="false" tIns="0" lIns="0" bIns="0" rIns="0">
            <a:spAutoFit/>
          </a:bodyPr>
          <a:lstStyle/>
          <a:p>
            <a:pPr algn="just">
              <a:lnSpc>
                <a:spcPts val="4760"/>
              </a:lnSpc>
            </a:pPr>
            <a:r>
              <a:rPr lang="en-US" sz="3400">
                <a:solidFill>
                  <a:srgbClr val="000000"/>
                </a:solidFill>
                <a:latin typeface="JetBrains Mono"/>
                <a:ea typeface="JetBrains Mono"/>
                <a:cs typeface="JetBrains Mono"/>
                <a:sym typeface="JetBrains Mono"/>
              </a:rPr>
              <a:t>Reduce the generalization error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0" id="10"/>
          <p:cNvSpPr txBox="true"/>
          <p:nvPr/>
        </p:nvSpPr>
        <p:spPr>
          <a:xfrm rot="0">
            <a:off x="1313965" y="4005712"/>
            <a:ext cx="15081616" cy="4311650"/>
          </a:xfrm>
          <a:prstGeom prst="rect">
            <a:avLst/>
          </a:prstGeom>
        </p:spPr>
        <p:txBody>
          <a:bodyPr anchor="t" rtlCol="false" tIns="0" lIns="0" bIns="0" rIns="0">
            <a:spAutoFit/>
          </a:bodyPr>
          <a:lstStyle/>
          <a:p>
            <a:pPr algn="l">
              <a:lnSpc>
                <a:spcPts val="4900"/>
              </a:lnSpc>
            </a:pPr>
            <a:r>
              <a:rPr lang="en-US" sz="3500">
                <a:solidFill>
                  <a:srgbClr val="000000"/>
                </a:solidFill>
                <a:latin typeface="JetBrains Mono"/>
                <a:ea typeface="JetBrains Mono"/>
                <a:cs typeface="JetBrains Mono"/>
                <a:sym typeface="JetBrains Mono"/>
              </a:rPr>
              <a:t>For any objective function f(x), if the value of f(x) at x is smaller than the values of f(x) at any other points in the vicinity of x, then f(x) could be a local minimum. </a:t>
            </a:r>
          </a:p>
          <a:p>
            <a:pPr algn="l">
              <a:lnSpc>
                <a:spcPts val="4900"/>
              </a:lnSpc>
            </a:pPr>
            <a:r>
              <a:rPr lang="en-US" sz="3500">
                <a:solidFill>
                  <a:srgbClr val="000000"/>
                </a:solidFill>
                <a:latin typeface="JetBrains Mono"/>
                <a:ea typeface="JetBrains Mono"/>
                <a:cs typeface="JetBrains Mono"/>
                <a:sym typeface="JetBrains Mono"/>
              </a:rPr>
              <a:t>If the value of f(x) at x is the minimum of the objective function over the entire domain, then f(x) is the global minimum.</a:t>
            </a:r>
          </a:p>
        </p:txBody>
      </p:sp>
      <p:sp>
        <p:nvSpPr>
          <p:cNvPr name="TextBox 11" id="11"/>
          <p:cNvSpPr txBox="true"/>
          <p:nvPr/>
        </p:nvSpPr>
        <p:spPr>
          <a:xfrm rot="0">
            <a:off x="1313965" y="3117863"/>
            <a:ext cx="4277413" cy="72199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LOCAL MINIMA</a:t>
            </a:r>
          </a:p>
        </p:txBody>
      </p:sp>
      <p:sp>
        <p:nvSpPr>
          <p:cNvPr name="Freeform 12" id="12"/>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344608" y="4956624"/>
            <a:ext cx="6493540" cy="4845332"/>
          </a:xfrm>
          <a:custGeom>
            <a:avLst/>
            <a:gdLst/>
            <a:ahLst/>
            <a:cxnLst/>
            <a:rect r="r" b="b" t="t" l="l"/>
            <a:pathLst>
              <a:path h="4845332" w="6493540">
                <a:moveTo>
                  <a:pt x="0" y="0"/>
                </a:moveTo>
                <a:lnTo>
                  <a:pt x="6493540" y="0"/>
                </a:lnTo>
                <a:lnTo>
                  <a:pt x="6493540" y="4845332"/>
                </a:lnTo>
                <a:lnTo>
                  <a:pt x="0" y="4845332"/>
                </a:lnTo>
                <a:lnTo>
                  <a:pt x="0" y="0"/>
                </a:lnTo>
                <a:close/>
              </a:path>
            </a:pathLst>
          </a:custGeom>
          <a:blipFill>
            <a:blip r:embed="rId6"/>
            <a:stretch>
              <a:fillRect l="0" t="0" r="0" b="0"/>
            </a:stretch>
          </a:blipFill>
        </p:spPr>
      </p:sp>
      <p:sp>
        <p:nvSpPr>
          <p:cNvPr name="Freeform 11" id="11"/>
          <p:cNvSpPr/>
          <p:nvPr/>
        </p:nvSpPr>
        <p:spPr>
          <a:xfrm flipH="false" flipV="false" rot="0">
            <a:off x="8854773" y="4737752"/>
            <a:ext cx="6323957" cy="5064205"/>
          </a:xfrm>
          <a:custGeom>
            <a:avLst/>
            <a:gdLst/>
            <a:ahLst/>
            <a:cxnLst/>
            <a:rect r="r" b="b" t="t" l="l"/>
            <a:pathLst>
              <a:path h="5064205" w="6323957">
                <a:moveTo>
                  <a:pt x="0" y="0"/>
                </a:moveTo>
                <a:lnTo>
                  <a:pt x="6323957" y="0"/>
                </a:lnTo>
                <a:lnTo>
                  <a:pt x="6323957" y="5064204"/>
                </a:lnTo>
                <a:lnTo>
                  <a:pt x="0" y="5064204"/>
                </a:lnTo>
                <a:lnTo>
                  <a:pt x="0" y="0"/>
                </a:lnTo>
                <a:close/>
              </a:path>
            </a:pathLst>
          </a:custGeom>
          <a:blipFill>
            <a:blip r:embed="rId7"/>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3" id="13"/>
          <p:cNvSpPr txBox="true"/>
          <p:nvPr/>
        </p:nvSpPr>
        <p:spPr>
          <a:xfrm rot="0">
            <a:off x="1313965" y="3117863"/>
            <a:ext cx="4277413" cy="72199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LOCAL MINIMA</a:t>
            </a:r>
          </a:p>
        </p:txBody>
      </p:sp>
      <p:sp>
        <p:nvSpPr>
          <p:cNvPr name="TextBox 14" id="14"/>
          <p:cNvSpPr txBox="true"/>
          <p:nvPr/>
        </p:nvSpPr>
        <p:spPr>
          <a:xfrm rot="0">
            <a:off x="1313965" y="4005712"/>
            <a:ext cx="15081616" cy="1835150"/>
          </a:xfrm>
          <a:prstGeom prst="rect">
            <a:avLst/>
          </a:prstGeom>
        </p:spPr>
        <p:txBody>
          <a:bodyPr anchor="t" rtlCol="false" tIns="0" lIns="0" bIns="0" rIns="0">
            <a:spAutoFit/>
          </a:bodyPr>
          <a:lstStyle/>
          <a:p>
            <a:pPr algn="l">
              <a:lnSpc>
                <a:spcPts val="4900"/>
              </a:lnSpc>
            </a:pPr>
            <a:r>
              <a:rPr lang="en-US" sz="3500">
                <a:solidFill>
                  <a:srgbClr val="000000"/>
                </a:solidFill>
                <a:latin typeface="JetBrains Mono"/>
                <a:ea typeface="JetBrains Mono"/>
                <a:cs typeface="JetBrains Mono"/>
                <a:sym typeface="JetBrains Mono"/>
              </a:rPr>
              <a:t>The optimization problems may have many local minima.</a:t>
            </a:r>
          </a:p>
          <a:p>
            <a:pPr algn="l">
              <a:lnSpc>
                <a:spcPts val="4900"/>
              </a:lnSpc>
            </a:pPr>
          </a:p>
          <a:p>
            <a:pPr algn="l">
              <a:lnSpc>
                <a:spcPts val="490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7247466"/>
            <a:chOff x="0" y="0"/>
            <a:chExt cx="5157348" cy="1908798"/>
          </a:xfrm>
        </p:grpSpPr>
        <p:sp>
          <p:nvSpPr>
            <p:cNvPr name="Freeform 7" id="7"/>
            <p:cNvSpPr/>
            <p:nvPr/>
          </p:nvSpPr>
          <p:spPr>
            <a:xfrm flipH="false" flipV="false" rot="0">
              <a:off x="0" y="0"/>
              <a:ext cx="5157348" cy="1908798"/>
            </a:xfrm>
            <a:custGeom>
              <a:avLst/>
              <a:gdLst/>
              <a:ahLst/>
              <a:cxnLst/>
              <a:rect r="r" b="b" t="t" l="l"/>
              <a:pathLst>
                <a:path h="1908798" w="5157348">
                  <a:moveTo>
                    <a:pt x="0" y="0"/>
                  </a:moveTo>
                  <a:lnTo>
                    <a:pt x="5157348" y="0"/>
                  </a:lnTo>
                  <a:lnTo>
                    <a:pt x="5157348" y="1908798"/>
                  </a:lnTo>
                  <a:lnTo>
                    <a:pt x="0" y="1908798"/>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46898"/>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0" id="10"/>
          <p:cNvSpPr txBox="true"/>
          <p:nvPr/>
        </p:nvSpPr>
        <p:spPr>
          <a:xfrm rot="0">
            <a:off x="1313965" y="4005712"/>
            <a:ext cx="15081616" cy="3692525"/>
          </a:xfrm>
          <a:prstGeom prst="rect">
            <a:avLst/>
          </a:prstGeom>
        </p:spPr>
        <p:txBody>
          <a:bodyPr anchor="t" rtlCol="false" tIns="0" lIns="0" bIns="0" rIns="0">
            <a:spAutoFit/>
          </a:bodyPr>
          <a:lstStyle/>
          <a:p>
            <a:pPr algn="l">
              <a:lnSpc>
                <a:spcPts val="4900"/>
              </a:lnSpc>
            </a:pPr>
            <a:r>
              <a:rPr lang="en-US" sz="3500">
                <a:solidFill>
                  <a:srgbClr val="000000"/>
                </a:solidFill>
                <a:latin typeface="JetBrains Mono"/>
                <a:ea typeface="JetBrains Mono"/>
                <a:cs typeface="JetBrains Mono"/>
                <a:sym typeface="JetBrains Mono"/>
              </a:rPr>
              <a:t>A saddle point is any location where all gradients of a function vanish but which is neither a global nor a local minimum. </a:t>
            </a:r>
          </a:p>
          <a:p>
            <a:pPr algn="l">
              <a:lnSpc>
                <a:spcPts val="4900"/>
              </a:lnSpc>
            </a:pPr>
            <a:r>
              <a:rPr lang="en-US" sz="3500">
                <a:solidFill>
                  <a:srgbClr val="000000"/>
                </a:solidFill>
                <a:latin typeface="JetBrains Mono"/>
                <a:ea typeface="JetBrains Mono"/>
                <a:cs typeface="JetBrains Mono"/>
                <a:sym typeface="JetBrains Mono"/>
              </a:rPr>
              <a:t>Consider the function f(x)=x^3. Its first and second derivative vanish for x=0. Optimization might stall at this point, even though it is not a minimum.</a:t>
            </a:r>
          </a:p>
        </p:txBody>
      </p:sp>
      <p:sp>
        <p:nvSpPr>
          <p:cNvPr name="TextBox 11" id="11"/>
          <p:cNvSpPr txBox="true"/>
          <p:nvPr/>
        </p:nvSpPr>
        <p:spPr>
          <a:xfrm rot="0">
            <a:off x="1313965" y="3117863"/>
            <a:ext cx="4799222" cy="146494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SADDLE POINTS</a:t>
            </a:r>
          </a:p>
          <a:p>
            <a:pPr algn="l">
              <a:lnSpc>
                <a:spcPts val="5880"/>
              </a:lnSpc>
            </a:pPr>
          </a:p>
        </p:txBody>
      </p:sp>
      <p:sp>
        <p:nvSpPr>
          <p:cNvPr name="Freeform 12" id="12"/>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5823119" y="5375077"/>
            <a:ext cx="6063307" cy="4524303"/>
          </a:xfrm>
          <a:custGeom>
            <a:avLst/>
            <a:gdLst/>
            <a:ahLst/>
            <a:cxnLst/>
            <a:rect r="r" b="b" t="t" l="l"/>
            <a:pathLst>
              <a:path h="4524303" w="6063307">
                <a:moveTo>
                  <a:pt x="0" y="0"/>
                </a:moveTo>
                <a:lnTo>
                  <a:pt x="6063308" y="0"/>
                </a:lnTo>
                <a:lnTo>
                  <a:pt x="6063308" y="4524302"/>
                </a:lnTo>
                <a:lnTo>
                  <a:pt x="0" y="4524302"/>
                </a:lnTo>
                <a:lnTo>
                  <a:pt x="0" y="0"/>
                </a:lnTo>
                <a:close/>
              </a:path>
            </a:pathLst>
          </a:custGeom>
          <a:blipFill>
            <a:blip r:embed="rId6"/>
            <a:stretch>
              <a:fillRect l="0" t="0" r="0" b="0"/>
            </a:stretch>
          </a:blipFill>
        </p:spPr>
      </p:sp>
      <p:sp>
        <p:nvSpPr>
          <p:cNvPr name="TextBox 11" id="11"/>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2" id="12"/>
          <p:cNvSpPr txBox="true"/>
          <p:nvPr/>
        </p:nvSpPr>
        <p:spPr>
          <a:xfrm rot="0">
            <a:off x="1313965" y="3117863"/>
            <a:ext cx="4799222" cy="146494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SADDLE POINTS</a:t>
            </a:r>
          </a:p>
          <a:p>
            <a:pPr algn="l">
              <a:lnSpc>
                <a:spcPts val="5880"/>
              </a:lnSpc>
            </a:pPr>
          </a:p>
        </p:txBody>
      </p:sp>
      <p:sp>
        <p:nvSpPr>
          <p:cNvPr name="TextBox 13" id="13"/>
          <p:cNvSpPr txBox="true"/>
          <p:nvPr/>
        </p:nvSpPr>
        <p:spPr>
          <a:xfrm rot="0">
            <a:off x="1313965" y="4005712"/>
            <a:ext cx="15081616" cy="1216025"/>
          </a:xfrm>
          <a:prstGeom prst="rect">
            <a:avLst/>
          </a:prstGeom>
        </p:spPr>
        <p:txBody>
          <a:bodyPr anchor="t" rtlCol="false" tIns="0" lIns="0" bIns="0" rIns="0">
            <a:spAutoFit/>
          </a:bodyPr>
          <a:lstStyle/>
          <a:p>
            <a:pPr algn="l">
              <a:lnSpc>
                <a:spcPts val="4900"/>
              </a:lnSpc>
            </a:pPr>
            <a:r>
              <a:rPr lang="en-US" sz="3500">
                <a:solidFill>
                  <a:srgbClr val="000000"/>
                </a:solidFill>
                <a:latin typeface="JetBrains Mono"/>
                <a:ea typeface="JetBrains Mono"/>
                <a:cs typeface="JetBrains Mono"/>
                <a:sym typeface="JetBrains Mono"/>
              </a:rPr>
              <a:t>The problem may have even more saddle points, as generally the problems are not convex.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37377"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2092" y="4875136"/>
            <a:ext cx="5516498" cy="4585589"/>
          </a:xfrm>
          <a:custGeom>
            <a:avLst/>
            <a:gdLst/>
            <a:ahLst/>
            <a:cxnLst/>
            <a:rect r="r" b="b" t="t" l="l"/>
            <a:pathLst>
              <a:path h="4585589" w="5516498">
                <a:moveTo>
                  <a:pt x="0" y="0"/>
                </a:moveTo>
                <a:lnTo>
                  <a:pt x="5516498" y="0"/>
                </a:lnTo>
                <a:lnTo>
                  <a:pt x="5516498" y="4585589"/>
                </a:lnTo>
                <a:lnTo>
                  <a:pt x="0" y="4585589"/>
                </a:lnTo>
                <a:lnTo>
                  <a:pt x="0" y="0"/>
                </a:lnTo>
                <a:close/>
              </a:path>
            </a:pathLst>
          </a:custGeom>
          <a:blipFill>
            <a:blip r:embed="rId6"/>
            <a:stretch>
              <a:fillRect l="0" t="0" r="0" b="0"/>
            </a:stretch>
          </a:blipFill>
        </p:spPr>
      </p:sp>
      <p:sp>
        <p:nvSpPr>
          <p:cNvPr name="Freeform 11" id="11"/>
          <p:cNvSpPr/>
          <p:nvPr/>
        </p:nvSpPr>
        <p:spPr>
          <a:xfrm flipH="false" flipV="false" rot="0">
            <a:off x="7686002" y="2723362"/>
            <a:ext cx="7655122" cy="6985299"/>
          </a:xfrm>
          <a:custGeom>
            <a:avLst/>
            <a:gdLst/>
            <a:ahLst/>
            <a:cxnLst/>
            <a:rect r="r" b="b" t="t" l="l"/>
            <a:pathLst>
              <a:path h="6985299" w="7655122">
                <a:moveTo>
                  <a:pt x="0" y="0"/>
                </a:moveTo>
                <a:lnTo>
                  <a:pt x="7655122" y="0"/>
                </a:lnTo>
                <a:lnTo>
                  <a:pt x="7655122" y="6985299"/>
                </a:lnTo>
                <a:lnTo>
                  <a:pt x="0" y="6985299"/>
                </a:lnTo>
                <a:lnTo>
                  <a:pt x="0" y="0"/>
                </a:lnTo>
                <a:close/>
              </a:path>
            </a:pathLst>
          </a:custGeom>
          <a:blipFill>
            <a:blip r:embed="rId7"/>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3" id="13"/>
          <p:cNvSpPr txBox="true"/>
          <p:nvPr/>
        </p:nvSpPr>
        <p:spPr>
          <a:xfrm rot="0">
            <a:off x="1313965" y="3117863"/>
            <a:ext cx="4799222" cy="146494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SADDLE POINTS</a:t>
            </a:r>
          </a:p>
          <a:p>
            <a:pPr algn="l">
              <a:lnSpc>
                <a:spcPts val="5880"/>
              </a:lnSpc>
            </a:pPr>
          </a:p>
        </p:txBody>
      </p:sp>
      <p:sp>
        <p:nvSpPr>
          <p:cNvPr name="TextBox 14" id="14"/>
          <p:cNvSpPr txBox="true"/>
          <p:nvPr/>
        </p:nvSpPr>
        <p:spPr>
          <a:xfrm rot="0">
            <a:off x="758945" y="4005712"/>
            <a:ext cx="6584122" cy="596900"/>
          </a:xfrm>
          <a:prstGeom prst="rect">
            <a:avLst/>
          </a:prstGeom>
        </p:spPr>
        <p:txBody>
          <a:bodyPr anchor="t" rtlCol="false" tIns="0" lIns="0" bIns="0" rIns="0">
            <a:spAutoFit/>
          </a:bodyPr>
          <a:lstStyle/>
          <a:p>
            <a:pPr algn="l">
              <a:lnSpc>
                <a:spcPts val="4900"/>
              </a:lnSpc>
            </a:pPr>
            <a:r>
              <a:rPr lang="en-US" sz="3500">
                <a:solidFill>
                  <a:srgbClr val="000000"/>
                </a:solidFill>
                <a:latin typeface="JetBrains Mono"/>
                <a:ea typeface="JetBrains Mono"/>
                <a:cs typeface="JetBrains Mono"/>
                <a:sym typeface="JetBrains Mono"/>
              </a:rPr>
              <a:t>Example: f(x,y) = x</a:t>
            </a:r>
            <a:r>
              <a:rPr lang="en-US" sz="3500">
                <a:solidFill>
                  <a:srgbClr val="000000"/>
                </a:solidFill>
                <a:latin typeface="JetBrains Mono"/>
                <a:ea typeface="JetBrains Mono"/>
                <a:cs typeface="JetBrains Mono"/>
                <a:sym typeface="JetBrains Mono"/>
              </a:rPr>
              <a:t>2</a:t>
            </a:r>
            <a:r>
              <a:rPr lang="en-US" sz="3500">
                <a:solidFill>
                  <a:srgbClr val="000000"/>
                </a:solidFill>
                <a:latin typeface="JetBrains Mono"/>
                <a:ea typeface="JetBrains Mono"/>
                <a:cs typeface="JetBrains Mono"/>
                <a:sym typeface="JetBrains Mono"/>
              </a:rPr>
              <a:t> - y</a:t>
            </a:r>
            <a:r>
              <a:rPr lang="en-US" sz="3500">
                <a:solidFill>
                  <a:srgbClr val="000000"/>
                </a:solidFill>
                <a:latin typeface="JetBrains Mono"/>
                <a:ea typeface="JetBrains Mono"/>
                <a:cs typeface="JetBrains Mono"/>
                <a:sym typeface="JetBrains Mono"/>
              </a:rPr>
              <a:t>2</a:t>
            </a:r>
            <a:r>
              <a:rPr lang="en-US" sz="3500">
                <a:solidFill>
                  <a:srgbClr val="000000"/>
                </a:solidFill>
                <a:latin typeface="JetBrains Mono"/>
                <a:ea typeface="JetBrains Mono"/>
                <a:cs typeface="JetBrains Mono"/>
                <a:sym typeface="JetBrains Mono"/>
              </a:rPr>
              <a: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65952"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55327" y="4836859"/>
            <a:ext cx="5516498" cy="4585589"/>
          </a:xfrm>
          <a:custGeom>
            <a:avLst/>
            <a:gdLst/>
            <a:ahLst/>
            <a:cxnLst/>
            <a:rect r="r" b="b" t="t" l="l"/>
            <a:pathLst>
              <a:path h="4585589" w="5516498">
                <a:moveTo>
                  <a:pt x="0" y="0"/>
                </a:moveTo>
                <a:lnTo>
                  <a:pt x="5516498" y="0"/>
                </a:lnTo>
                <a:lnTo>
                  <a:pt x="5516498" y="4585589"/>
                </a:lnTo>
                <a:lnTo>
                  <a:pt x="0" y="4585589"/>
                </a:lnTo>
                <a:lnTo>
                  <a:pt x="0" y="0"/>
                </a:lnTo>
                <a:close/>
              </a:path>
            </a:pathLst>
          </a:custGeom>
          <a:blipFill>
            <a:blip r:embed="rId6"/>
            <a:stretch>
              <a:fillRect l="0" t="0" r="0" b="0"/>
            </a:stretch>
          </a:blipFill>
        </p:spPr>
      </p:sp>
      <p:sp>
        <p:nvSpPr>
          <p:cNvPr name="Freeform 11" id="11"/>
          <p:cNvSpPr/>
          <p:nvPr/>
        </p:nvSpPr>
        <p:spPr>
          <a:xfrm flipH="false" flipV="false" rot="0">
            <a:off x="6893310" y="5211385"/>
            <a:ext cx="10886368" cy="2503865"/>
          </a:xfrm>
          <a:custGeom>
            <a:avLst/>
            <a:gdLst/>
            <a:ahLst/>
            <a:cxnLst/>
            <a:rect r="r" b="b" t="t" l="l"/>
            <a:pathLst>
              <a:path h="2503865" w="10886368">
                <a:moveTo>
                  <a:pt x="0" y="0"/>
                </a:moveTo>
                <a:lnTo>
                  <a:pt x="10886367" y="0"/>
                </a:lnTo>
                <a:lnTo>
                  <a:pt x="10886367" y="2503865"/>
                </a:lnTo>
                <a:lnTo>
                  <a:pt x="0" y="2503865"/>
                </a:lnTo>
                <a:lnTo>
                  <a:pt x="0" y="0"/>
                </a:lnTo>
                <a:close/>
              </a:path>
            </a:pathLst>
          </a:custGeom>
          <a:blipFill>
            <a:blip r:embed="rId7"/>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3" id="13"/>
          <p:cNvSpPr txBox="true"/>
          <p:nvPr/>
        </p:nvSpPr>
        <p:spPr>
          <a:xfrm rot="0">
            <a:off x="1313965" y="3117863"/>
            <a:ext cx="4799222" cy="146494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SADDLE POINTS</a:t>
            </a:r>
          </a:p>
          <a:p>
            <a:pPr algn="l">
              <a:lnSpc>
                <a:spcPts val="5880"/>
              </a:lnSpc>
            </a:pPr>
          </a:p>
        </p:txBody>
      </p:sp>
      <p:sp>
        <p:nvSpPr>
          <p:cNvPr name="TextBox 14" id="14"/>
          <p:cNvSpPr txBox="true"/>
          <p:nvPr/>
        </p:nvSpPr>
        <p:spPr>
          <a:xfrm rot="0">
            <a:off x="1313965" y="4005712"/>
            <a:ext cx="6029102" cy="596900"/>
          </a:xfrm>
          <a:prstGeom prst="rect">
            <a:avLst/>
          </a:prstGeom>
        </p:spPr>
        <p:txBody>
          <a:bodyPr anchor="t" rtlCol="false" tIns="0" lIns="0" bIns="0" rIns="0">
            <a:spAutoFit/>
          </a:bodyPr>
          <a:lstStyle/>
          <a:p>
            <a:pPr algn="l">
              <a:lnSpc>
                <a:spcPts val="4900"/>
              </a:lnSpc>
            </a:pPr>
            <a:r>
              <a:rPr lang="en-US" sz="3500">
                <a:solidFill>
                  <a:srgbClr val="000000"/>
                </a:solidFill>
                <a:latin typeface="JetBrains Mono"/>
                <a:ea typeface="JetBrains Mono"/>
                <a:cs typeface="JetBrains Mono"/>
                <a:sym typeface="JetBrains Mono"/>
              </a:rPr>
              <a:t>Example: f(x) = x</a:t>
            </a:r>
            <a:r>
              <a:rPr lang="en-US" sz="3500">
                <a:solidFill>
                  <a:srgbClr val="000000"/>
                </a:solidFill>
                <a:latin typeface="JetBrains Mono"/>
                <a:ea typeface="JetBrains Mono"/>
                <a:cs typeface="JetBrains Mono"/>
                <a:sym typeface="JetBrains Mono"/>
              </a:rPr>
              <a:t>2</a:t>
            </a:r>
            <a:r>
              <a:rPr lang="en-US" sz="3500">
                <a:solidFill>
                  <a:srgbClr val="000000"/>
                </a:solidFill>
                <a:latin typeface="JetBrains Mono"/>
                <a:ea typeface="JetBrains Mono"/>
                <a:cs typeface="JetBrains Mono"/>
                <a:sym typeface="JetBrains Mono"/>
              </a:rPr>
              <a:t> - y</a:t>
            </a:r>
            <a:r>
              <a:rPr lang="en-US" sz="3500">
                <a:solidFill>
                  <a:srgbClr val="000000"/>
                </a:solidFill>
                <a:latin typeface="JetBrains Mono"/>
                <a:ea typeface="JetBrains Mono"/>
                <a:cs typeface="JetBrains Mono"/>
                <a:sym typeface="JetBrains Mono"/>
              </a:rPr>
              <a:t>2</a:t>
            </a:r>
            <a:r>
              <a:rPr lang="en-US" sz="3500">
                <a:solidFill>
                  <a:srgbClr val="000000"/>
                </a:solidFill>
                <a:latin typeface="JetBrains Mono"/>
                <a:ea typeface="JetBrains Mono"/>
                <a:cs typeface="JetBrains Mono"/>
                <a:sym typeface="JetBrains Mono"/>
              </a:rPr>
              <a: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313965" y="4043812"/>
            <a:ext cx="15081616" cy="2938145"/>
          </a:xfrm>
          <a:prstGeom prst="rect">
            <a:avLst/>
          </a:prstGeom>
        </p:spPr>
        <p:txBody>
          <a:bodyPr anchor="t" rtlCol="false" tIns="0" lIns="0" bIns="0" rIns="0">
            <a:spAutoFit/>
          </a:bodyPr>
          <a:lstStyle/>
          <a:p>
            <a:pPr algn="l">
              <a:lnSpc>
                <a:spcPts val="2380"/>
              </a:lnSpc>
            </a:pPr>
            <a:r>
              <a:rPr lang="en-US" sz="1700">
                <a:solidFill>
                  <a:srgbClr val="000000"/>
                </a:solidFill>
                <a:latin typeface="JetBrains Mono"/>
                <a:ea typeface="JetBrains Mono"/>
                <a:cs typeface="JetBrains Mono"/>
                <a:sym typeface="JetBrains Mono"/>
              </a:rPr>
              <a:t>In a neural network, learning happens by adjusting the network's weights based on the error (or loss) calculated at the output. The backpropagation algorithm computes the gradient (which is essentially the derivative of the loss function with respect to each weight) and uses this gradient to update the weights. The vanishing gradient problem occurs when these gradients become extremely small as they are propagated backward from the output layers to the earlier layers of the network</a:t>
            </a:r>
          </a:p>
          <a:p>
            <a:pPr algn="l">
              <a:lnSpc>
                <a:spcPts val="2380"/>
              </a:lnSpc>
            </a:pPr>
            <a:r>
              <a:rPr lang="en-US" sz="1700">
                <a:solidFill>
                  <a:srgbClr val="000000"/>
                </a:solidFill>
                <a:latin typeface="JetBrains Mono"/>
                <a:ea typeface="JetBrains Mono"/>
                <a:cs typeface="JetBrains Mono"/>
                <a:sym typeface="JetBrains Mono"/>
              </a:rPr>
              <a:t>For instance, assume that we want to minimize the function f(x)=tanh⁡(x) and we happen to get started at x=4. The gradient of f is close to nil. More specifically, f′(x)=1−tanh^2⁡(x) and thus f′(4)=0.0013.</a:t>
            </a:r>
          </a:p>
          <a:p>
            <a:pPr algn="l">
              <a:lnSpc>
                <a:spcPts val="2380"/>
              </a:lnSpc>
            </a:pPr>
            <a:r>
              <a:rPr lang="en-US" sz="1700">
                <a:solidFill>
                  <a:srgbClr val="000000"/>
                </a:solidFill>
                <a:latin typeface="JetBrains Mono"/>
                <a:ea typeface="JetBrains Mono"/>
                <a:cs typeface="JetBrains Mono"/>
                <a:sym typeface="JetBrains Mono"/>
              </a:rPr>
              <a:t>Vanishing gradients can cause optimization to stall.</a:t>
            </a:r>
          </a:p>
          <a:p>
            <a:pPr algn="l">
              <a:lnSpc>
                <a:spcPts val="2380"/>
              </a:lnSpc>
            </a:pPr>
          </a:p>
          <a:p>
            <a:pPr algn="l">
              <a:lnSpc>
                <a:spcPts val="2380"/>
              </a:lnSpc>
            </a:pPr>
          </a:p>
        </p:txBody>
      </p:sp>
      <p:sp>
        <p:nvSpPr>
          <p:cNvPr name="Freeform 10" id="10"/>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2426070" y="6303635"/>
            <a:ext cx="4607930" cy="3203233"/>
          </a:xfrm>
          <a:custGeom>
            <a:avLst/>
            <a:gdLst/>
            <a:ahLst/>
            <a:cxnLst/>
            <a:rect r="r" b="b" t="t" l="l"/>
            <a:pathLst>
              <a:path h="3203233" w="4607930">
                <a:moveTo>
                  <a:pt x="0" y="0"/>
                </a:moveTo>
                <a:lnTo>
                  <a:pt x="4607930" y="0"/>
                </a:lnTo>
                <a:lnTo>
                  <a:pt x="4607930" y="3203234"/>
                </a:lnTo>
                <a:lnTo>
                  <a:pt x="0" y="3203234"/>
                </a:lnTo>
                <a:lnTo>
                  <a:pt x="0" y="0"/>
                </a:lnTo>
                <a:close/>
              </a:path>
            </a:pathLst>
          </a:custGeom>
          <a:blipFill>
            <a:blip r:embed="rId6"/>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3" id="13"/>
          <p:cNvSpPr txBox="true"/>
          <p:nvPr/>
        </p:nvSpPr>
        <p:spPr>
          <a:xfrm rot="0">
            <a:off x="1313965" y="3117863"/>
            <a:ext cx="6811913" cy="146494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VANISHING GRADIENTS</a:t>
            </a:r>
          </a:p>
          <a:p>
            <a:pPr algn="l">
              <a:lnSpc>
                <a:spcPts val="588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378539" y="4142750"/>
            <a:ext cx="11301259" cy="4661769"/>
          </a:xfrm>
          <a:custGeom>
            <a:avLst/>
            <a:gdLst/>
            <a:ahLst/>
            <a:cxnLst/>
            <a:rect r="r" b="b" t="t" l="l"/>
            <a:pathLst>
              <a:path h="4661769" w="11301259">
                <a:moveTo>
                  <a:pt x="0" y="0"/>
                </a:moveTo>
                <a:lnTo>
                  <a:pt x="11301259" y="0"/>
                </a:lnTo>
                <a:lnTo>
                  <a:pt x="11301259" y="4661769"/>
                </a:lnTo>
                <a:lnTo>
                  <a:pt x="0" y="4661769"/>
                </a:lnTo>
                <a:lnTo>
                  <a:pt x="0" y="0"/>
                </a:lnTo>
                <a:close/>
              </a:path>
            </a:pathLst>
          </a:custGeom>
          <a:blipFill>
            <a:blip r:embed="rId6"/>
            <a:stretch>
              <a:fillRect l="0" t="0" r="0" b="0"/>
            </a:stretch>
          </a:blipFill>
        </p:spPr>
      </p:sp>
      <p:sp>
        <p:nvSpPr>
          <p:cNvPr name="TextBox 11" id="11"/>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2" id="12"/>
          <p:cNvSpPr txBox="true"/>
          <p:nvPr/>
        </p:nvSpPr>
        <p:spPr>
          <a:xfrm rot="0">
            <a:off x="1313965" y="3117863"/>
            <a:ext cx="6811913" cy="146494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VANISHING GRADIENTS</a:t>
            </a:r>
          </a:p>
          <a:p>
            <a:pPr algn="l">
              <a:lnSpc>
                <a:spcPts val="588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313965" y="4015237"/>
            <a:ext cx="15081616" cy="5595620"/>
          </a:xfrm>
          <a:prstGeom prst="rect">
            <a:avLst/>
          </a:prstGeom>
        </p:spPr>
        <p:txBody>
          <a:bodyPr anchor="t" rtlCol="false" tIns="0" lIns="0" bIns="0" rIns="0">
            <a:spAutoFit/>
          </a:bodyPr>
          <a:lstStyle/>
          <a:p>
            <a:pPr algn="l" marL="690882" indent="-345441" lvl="1">
              <a:lnSpc>
                <a:spcPts val="4480"/>
              </a:lnSpc>
              <a:buFont typeface="Arial"/>
              <a:buChar char="•"/>
            </a:pPr>
            <a:r>
              <a:rPr lang="en-US" sz="3200">
                <a:solidFill>
                  <a:srgbClr val="000000"/>
                </a:solidFill>
                <a:latin typeface="JetBrains Mono"/>
                <a:ea typeface="JetBrains Mono"/>
                <a:cs typeface="JetBrains Mono"/>
                <a:sym typeface="JetBrains Mono"/>
              </a:rPr>
              <a:t>Slow Training: The most immediate effect is that the network trains very slowly, as the earlier layers are not updated effectively.</a:t>
            </a:r>
          </a:p>
          <a:p>
            <a:pPr algn="l" marL="690882" indent="-345441" lvl="1">
              <a:lnSpc>
                <a:spcPts val="4480"/>
              </a:lnSpc>
              <a:buFont typeface="Arial"/>
              <a:buChar char="•"/>
            </a:pPr>
            <a:r>
              <a:rPr lang="en-US" sz="3200">
                <a:solidFill>
                  <a:srgbClr val="000000"/>
                </a:solidFill>
                <a:latin typeface="JetBrains Mono"/>
                <a:ea typeface="JetBrains Mono"/>
                <a:cs typeface="JetBrains Mono"/>
                <a:sym typeface="JetBrains Mono"/>
              </a:rPr>
              <a:t>Poor Performance: If the early layers don't learn, the network cannot learn complex features and will likely perform poorly on the task it's being trained for.</a:t>
            </a:r>
          </a:p>
          <a:p>
            <a:pPr algn="l" marL="690882" indent="-345441" lvl="1">
              <a:lnSpc>
                <a:spcPts val="4480"/>
              </a:lnSpc>
              <a:buFont typeface="Arial"/>
              <a:buChar char="•"/>
            </a:pPr>
            <a:r>
              <a:rPr lang="en-US" sz="3200">
                <a:solidFill>
                  <a:srgbClr val="000000"/>
                </a:solidFill>
                <a:latin typeface="JetBrains Mono"/>
                <a:ea typeface="JetBrains Mono"/>
                <a:cs typeface="JetBrains Mono"/>
                <a:sym typeface="JetBrains Mono"/>
              </a:rPr>
              <a:t>Inability to Train Deep Networks: Vanishing gradients historically made it very difficult to train very deep neural networks effectively.</a:t>
            </a:r>
          </a:p>
          <a:p>
            <a:pPr algn="l">
              <a:lnSpc>
                <a:spcPts val="4480"/>
              </a:lnSpc>
            </a:pPr>
          </a:p>
        </p:txBody>
      </p:sp>
      <p:sp>
        <p:nvSpPr>
          <p:cNvPr name="Freeform 10" id="10"/>
          <p:cNvSpPr/>
          <p:nvPr/>
        </p:nvSpPr>
        <p:spPr>
          <a:xfrm flipH="false" flipV="false" rot="-1721304">
            <a:off x="15513882" y="346505"/>
            <a:ext cx="3490836" cy="5714166"/>
          </a:xfrm>
          <a:custGeom>
            <a:avLst/>
            <a:gdLst/>
            <a:ahLst/>
            <a:cxnLst/>
            <a:rect r="r" b="b" t="t" l="l"/>
            <a:pathLst>
              <a:path h="5714166" w="3490836">
                <a:moveTo>
                  <a:pt x="0" y="0"/>
                </a:moveTo>
                <a:lnTo>
                  <a:pt x="3490836" y="0"/>
                </a:lnTo>
                <a:lnTo>
                  <a:pt x="3490836" y="5714166"/>
                </a:lnTo>
                <a:lnTo>
                  <a:pt x="0" y="5714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OPTIMIZATION ISSUES</a:t>
            </a:r>
          </a:p>
        </p:txBody>
      </p:sp>
      <p:sp>
        <p:nvSpPr>
          <p:cNvPr name="TextBox 12" id="12"/>
          <p:cNvSpPr txBox="true"/>
          <p:nvPr/>
        </p:nvSpPr>
        <p:spPr>
          <a:xfrm rot="0">
            <a:off x="1313965" y="3117863"/>
            <a:ext cx="6811913" cy="1464945"/>
          </a:xfrm>
          <a:prstGeom prst="rect">
            <a:avLst/>
          </a:prstGeom>
        </p:spPr>
        <p:txBody>
          <a:bodyPr anchor="t" rtlCol="false" tIns="0" lIns="0" bIns="0" rIns="0">
            <a:spAutoFit/>
          </a:bodyPr>
          <a:lstStyle/>
          <a:p>
            <a:pPr algn="l">
              <a:lnSpc>
                <a:spcPts val="5880"/>
              </a:lnSpc>
            </a:pPr>
            <a:r>
              <a:rPr lang="en-US" sz="4200">
                <a:solidFill>
                  <a:srgbClr val="000000"/>
                </a:solidFill>
                <a:latin typeface="Intro"/>
                <a:ea typeface="Intro"/>
                <a:cs typeface="Intro"/>
                <a:sym typeface="Intro"/>
              </a:rPr>
              <a:t>VANISHING GRADIENTS</a:t>
            </a:r>
          </a:p>
          <a:p>
            <a:pPr algn="l">
              <a:lnSpc>
                <a:spcPts val="588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4025904" y="774943"/>
            <a:ext cx="2824339" cy="3779530"/>
          </a:xfrm>
          <a:custGeom>
            <a:avLst/>
            <a:gdLst/>
            <a:ahLst/>
            <a:cxnLst/>
            <a:rect r="r" b="b" t="t" l="l"/>
            <a:pathLst>
              <a:path h="3779530" w="2824339">
                <a:moveTo>
                  <a:pt x="2824339" y="0"/>
                </a:moveTo>
                <a:lnTo>
                  <a:pt x="0" y="0"/>
                </a:lnTo>
                <a:lnTo>
                  <a:pt x="0" y="3779529"/>
                </a:lnTo>
                <a:lnTo>
                  <a:pt x="2824339" y="3779529"/>
                </a:lnTo>
                <a:lnTo>
                  <a:pt x="282433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CONVEXITY</a:t>
            </a:r>
          </a:p>
        </p:txBody>
      </p:sp>
      <p:sp>
        <p:nvSpPr>
          <p:cNvPr name="TextBox 11" id="11"/>
          <p:cNvSpPr txBox="true"/>
          <p:nvPr/>
        </p:nvSpPr>
        <p:spPr>
          <a:xfrm rot="0">
            <a:off x="1464304" y="4322562"/>
            <a:ext cx="13191120" cy="21145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JetBrains Mono"/>
                <a:ea typeface="JetBrains Mono"/>
                <a:cs typeface="JetBrains Mono"/>
                <a:sym typeface="JetBrains Mono"/>
              </a:rPr>
              <a:t>Convexity plays a vital role in the design of optimization algorithms.</a:t>
            </a:r>
          </a:p>
          <a:p>
            <a:pPr algn="l" marL="647700" indent="-323850" lvl="1">
              <a:lnSpc>
                <a:spcPts val="4200"/>
              </a:lnSpc>
              <a:buFont typeface="Arial"/>
              <a:buChar char="•"/>
            </a:pPr>
            <a:r>
              <a:rPr lang="en-US" sz="3000">
                <a:solidFill>
                  <a:srgbClr val="000000"/>
                </a:solidFill>
                <a:latin typeface="JetBrains Mono"/>
                <a:ea typeface="JetBrains Mono"/>
                <a:cs typeface="JetBrains Mono"/>
                <a:sym typeface="JetBrains Mono"/>
              </a:rPr>
              <a:t>This is largely due to the fact that it is much easier to analyze and test algorithms in such a context.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182108"/>
            <a:ext cx="16230600" cy="1581150"/>
          </a:xfrm>
          <a:prstGeom prst="rect">
            <a:avLst/>
          </a:prstGeom>
        </p:spPr>
        <p:txBody>
          <a:bodyPr anchor="t" rtlCol="false" tIns="0" lIns="0" bIns="0" rIns="0">
            <a:spAutoFit/>
          </a:bodyPr>
          <a:lstStyle/>
          <a:p>
            <a:pPr algn="just">
              <a:lnSpc>
                <a:spcPts val="4200"/>
              </a:lnSpc>
            </a:pPr>
            <a:r>
              <a:rPr lang="en-US" sz="3000">
                <a:solidFill>
                  <a:srgbClr val="000000"/>
                </a:solidFill>
                <a:latin typeface="JetBrains Mono"/>
                <a:ea typeface="JetBrains Mono"/>
                <a:cs typeface="JetBrains Mono"/>
                <a:sym typeface="JetBrains Mono"/>
              </a:rPr>
              <a:t>Sets are the basis of convexity. Simply put, a set </a:t>
            </a:r>
            <a:r>
              <a:rPr lang="en-US" b="true" sz="3000" i="true">
                <a:solidFill>
                  <a:srgbClr val="000000"/>
                </a:solidFill>
                <a:latin typeface="JetBrains Mono Bold Italics"/>
                <a:ea typeface="JetBrains Mono Bold Italics"/>
                <a:cs typeface="JetBrains Mono Bold Italics"/>
                <a:sym typeface="JetBrains Mono Bold Italics"/>
              </a:rPr>
              <a:t>X</a:t>
            </a:r>
            <a:r>
              <a:rPr lang="en-US" sz="3000">
                <a:solidFill>
                  <a:srgbClr val="000000"/>
                </a:solidFill>
                <a:latin typeface="JetBrains Mono"/>
                <a:ea typeface="JetBrains Mono"/>
                <a:cs typeface="JetBrains Mono"/>
                <a:sym typeface="JetBrains Mono"/>
              </a:rPr>
              <a:t> in a vector space is convex if for any </a:t>
            </a:r>
            <a:r>
              <a:rPr lang="en-US" sz="3000" b="true">
                <a:solidFill>
                  <a:srgbClr val="000000"/>
                </a:solidFill>
                <a:latin typeface="JetBrains Mono Bold"/>
                <a:ea typeface="JetBrains Mono Bold"/>
                <a:cs typeface="JetBrains Mono Bold"/>
                <a:sym typeface="JetBrains Mono Bold"/>
              </a:rPr>
              <a:t>a,b</a:t>
            </a:r>
            <a:r>
              <a:rPr lang="en-US" sz="3000">
                <a:solidFill>
                  <a:srgbClr val="000000"/>
                </a:solidFill>
                <a:latin typeface="JetBrains Mono"/>
                <a:ea typeface="JetBrains Mono"/>
                <a:cs typeface="JetBrains Mono"/>
                <a:sym typeface="JetBrains Mono"/>
              </a:rPr>
              <a:t>∈</a:t>
            </a:r>
            <a:r>
              <a:rPr lang="en-US" b="true" sz="3000" i="true">
                <a:solidFill>
                  <a:srgbClr val="000000"/>
                </a:solidFill>
                <a:latin typeface="JetBrains Mono Bold Italics"/>
                <a:ea typeface="JetBrains Mono Bold Italics"/>
                <a:cs typeface="JetBrains Mono Bold Italics"/>
                <a:sym typeface="JetBrains Mono Bold Italics"/>
              </a:rPr>
              <a:t>X</a:t>
            </a:r>
            <a:r>
              <a:rPr lang="en-US" sz="3000">
                <a:solidFill>
                  <a:srgbClr val="000000"/>
                </a:solidFill>
                <a:latin typeface="JetBrains Mono"/>
                <a:ea typeface="JetBrains Mono"/>
                <a:cs typeface="JetBrains Mono"/>
                <a:sym typeface="JetBrains Mono"/>
              </a:rPr>
              <a:t> th</a:t>
            </a:r>
            <a:r>
              <a:rPr lang="en-US" sz="3000">
                <a:solidFill>
                  <a:srgbClr val="000000"/>
                </a:solidFill>
                <a:latin typeface="JetBrains Mono"/>
                <a:ea typeface="JetBrains Mono"/>
                <a:cs typeface="JetBrains Mono"/>
                <a:sym typeface="JetBrains Mono"/>
              </a:rPr>
              <a:t>e l</a:t>
            </a:r>
            <a:r>
              <a:rPr lang="en-US" sz="3000">
                <a:solidFill>
                  <a:srgbClr val="000000"/>
                </a:solidFill>
                <a:latin typeface="JetBrains Mono"/>
                <a:ea typeface="JetBrains Mono"/>
                <a:cs typeface="JetBrains Mono"/>
                <a:sym typeface="JetBrains Mono"/>
              </a:rPr>
              <a:t>in</a:t>
            </a:r>
            <a:r>
              <a:rPr lang="en-US" sz="3000">
                <a:solidFill>
                  <a:srgbClr val="000000"/>
                </a:solidFill>
                <a:latin typeface="JetBrains Mono"/>
                <a:ea typeface="JetBrains Mono"/>
                <a:cs typeface="JetBrains Mono"/>
                <a:sym typeface="JetBrains Mono"/>
              </a:rPr>
              <a:t>e s</a:t>
            </a:r>
            <a:r>
              <a:rPr lang="en-US" sz="3000">
                <a:solidFill>
                  <a:srgbClr val="000000"/>
                </a:solidFill>
                <a:latin typeface="JetBrains Mono"/>
                <a:ea typeface="JetBrains Mono"/>
                <a:cs typeface="JetBrains Mono"/>
                <a:sym typeface="JetBrains Mono"/>
              </a:rPr>
              <a:t>egment connecting </a:t>
            </a:r>
            <a:r>
              <a:rPr lang="en-US" sz="3000" b="true">
                <a:solidFill>
                  <a:srgbClr val="000000"/>
                </a:solidFill>
                <a:latin typeface="JetBrains Mono Bold"/>
                <a:ea typeface="JetBrains Mono Bold"/>
                <a:cs typeface="JetBrains Mono Bold"/>
                <a:sym typeface="JetBrains Mono Bold"/>
              </a:rPr>
              <a:t>a</a:t>
            </a:r>
            <a:r>
              <a:rPr lang="en-US" sz="3000">
                <a:solidFill>
                  <a:srgbClr val="000000"/>
                </a:solidFill>
                <a:latin typeface="JetBrains Mono"/>
                <a:ea typeface="JetBrains Mono"/>
                <a:cs typeface="JetBrains Mono"/>
                <a:sym typeface="JetBrains Mono"/>
              </a:rPr>
              <a:t> an</a:t>
            </a:r>
            <a:r>
              <a:rPr lang="en-US" sz="3000">
                <a:solidFill>
                  <a:srgbClr val="000000"/>
                </a:solidFill>
                <a:latin typeface="JetBrains Mono"/>
                <a:ea typeface="JetBrains Mono"/>
                <a:cs typeface="JetBrains Mono"/>
                <a:sym typeface="JetBrains Mono"/>
              </a:rPr>
              <a:t>d</a:t>
            </a:r>
            <a:r>
              <a:rPr lang="en-US" sz="3000">
                <a:solidFill>
                  <a:srgbClr val="000000"/>
                </a:solidFill>
                <a:latin typeface="JetBrains Mono"/>
                <a:ea typeface="JetBrains Mono"/>
                <a:cs typeface="JetBrains Mono"/>
                <a:sym typeface="JetBrains Mono"/>
              </a:rPr>
              <a:t> </a:t>
            </a:r>
            <a:r>
              <a:rPr lang="en-US" sz="3000" b="true">
                <a:solidFill>
                  <a:srgbClr val="000000"/>
                </a:solidFill>
                <a:latin typeface="JetBrains Mono Bold"/>
                <a:ea typeface="JetBrains Mono Bold"/>
                <a:cs typeface="JetBrains Mono Bold"/>
                <a:sym typeface="JetBrains Mono Bold"/>
              </a:rPr>
              <a:t>b</a:t>
            </a:r>
            <a:r>
              <a:rPr lang="en-US" sz="3000">
                <a:solidFill>
                  <a:srgbClr val="000000"/>
                </a:solidFill>
                <a:latin typeface="JetBrains Mono"/>
                <a:ea typeface="JetBrains Mono"/>
                <a:cs typeface="JetBrains Mono"/>
                <a:sym typeface="JetBrains Mono"/>
              </a:rPr>
              <a:t> is</a:t>
            </a:r>
            <a:r>
              <a:rPr lang="en-US" sz="3000">
                <a:solidFill>
                  <a:srgbClr val="000000"/>
                </a:solidFill>
                <a:latin typeface="JetBrains Mono"/>
                <a:ea typeface="JetBrains Mono"/>
                <a:cs typeface="JetBrains Mono"/>
                <a:sym typeface="JetBrains Mono"/>
              </a:rPr>
              <a:t> </a:t>
            </a:r>
            <a:r>
              <a:rPr lang="en-US" sz="3000">
                <a:solidFill>
                  <a:srgbClr val="000000"/>
                </a:solidFill>
                <a:latin typeface="JetBrains Mono"/>
                <a:ea typeface="JetBrains Mono"/>
                <a:cs typeface="JetBrains Mono"/>
                <a:sym typeface="JetBrains Mono"/>
              </a:rPr>
              <a:t>als</a:t>
            </a:r>
            <a:r>
              <a:rPr lang="en-US" sz="3000">
                <a:solidFill>
                  <a:srgbClr val="000000"/>
                </a:solidFill>
                <a:latin typeface="JetBrains Mono"/>
                <a:ea typeface="JetBrains Mono"/>
                <a:cs typeface="JetBrains Mono"/>
                <a:sym typeface="JetBrains Mono"/>
              </a:rPr>
              <a:t>o </a:t>
            </a:r>
            <a:r>
              <a:rPr lang="en-US" sz="3000">
                <a:solidFill>
                  <a:srgbClr val="000000"/>
                </a:solidFill>
                <a:latin typeface="JetBrains Mono"/>
                <a:ea typeface="JetBrains Mono"/>
                <a:cs typeface="JetBrains Mono"/>
                <a:sym typeface="JetBrains Mono"/>
              </a:rPr>
              <a:t>i</a:t>
            </a:r>
            <a:r>
              <a:rPr lang="en-US" sz="3000">
                <a:solidFill>
                  <a:srgbClr val="000000"/>
                </a:solidFill>
                <a:latin typeface="JetBrains Mono"/>
                <a:ea typeface="JetBrains Mono"/>
                <a:cs typeface="JetBrains Mono"/>
                <a:sym typeface="JetBrains Mono"/>
              </a:rPr>
              <a:t>n</a:t>
            </a:r>
            <a:r>
              <a:rPr lang="en-US" sz="3000">
                <a:solidFill>
                  <a:srgbClr val="000000"/>
                </a:solidFill>
                <a:latin typeface="JetBrains Mono"/>
                <a:ea typeface="JetBrains Mono"/>
                <a:cs typeface="JetBrains Mono"/>
                <a:sym typeface="JetBrains Mono"/>
              </a:rPr>
              <a:t> </a:t>
            </a:r>
            <a:r>
              <a:rPr lang="en-US" b="true" sz="3000" i="true">
                <a:solidFill>
                  <a:srgbClr val="000000"/>
                </a:solidFill>
                <a:latin typeface="JetBrains Mono Bold Italics"/>
                <a:ea typeface="JetBrains Mono Bold Italics"/>
                <a:cs typeface="JetBrains Mono Bold Italics"/>
                <a:sym typeface="JetBrains Mono Bold Italics"/>
              </a:rPr>
              <a:t>X</a:t>
            </a:r>
            <a:r>
              <a:rPr lang="en-US" sz="3000">
                <a:solidFill>
                  <a:srgbClr val="000000"/>
                </a:solidFill>
                <a:latin typeface="JetBrains Mono"/>
                <a:ea typeface="JetBrains Mono"/>
                <a:cs typeface="JetBrains Mono"/>
                <a:sym typeface="JetBrains Mono"/>
              </a:rPr>
              <a:t>.</a:t>
            </a:r>
          </a:p>
        </p:txBody>
      </p:sp>
      <p:sp>
        <p:nvSpPr>
          <p:cNvPr name="Freeform 10" id="10"/>
          <p:cNvSpPr/>
          <p:nvPr/>
        </p:nvSpPr>
        <p:spPr>
          <a:xfrm flipH="false" flipV="false" rot="0">
            <a:off x="15215886" y="833817"/>
            <a:ext cx="2520898" cy="2520898"/>
          </a:xfrm>
          <a:custGeom>
            <a:avLst/>
            <a:gdLst/>
            <a:ahLst/>
            <a:cxnLst/>
            <a:rect r="r" b="b" t="t" l="l"/>
            <a:pathLst>
              <a:path h="2520898" w="2520898">
                <a:moveTo>
                  <a:pt x="0" y="0"/>
                </a:moveTo>
                <a:lnTo>
                  <a:pt x="2520898" y="0"/>
                </a:lnTo>
                <a:lnTo>
                  <a:pt x="2520898" y="2520898"/>
                </a:lnTo>
                <a:lnTo>
                  <a:pt x="0" y="25208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57382" y="5143500"/>
            <a:ext cx="11301259" cy="2881821"/>
          </a:xfrm>
          <a:custGeom>
            <a:avLst/>
            <a:gdLst/>
            <a:ahLst/>
            <a:cxnLst/>
            <a:rect r="r" b="b" t="t" l="l"/>
            <a:pathLst>
              <a:path h="2881821" w="11301259">
                <a:moveTo>
                  <a:pt x="0" y="0"/>
                </a:moveTo>
                <a:lnTo>
                  <a:pt x="11301259" y="0"/>
                </a:lnTo>
                <a:lnTo>
                  <a:pt x="11301259" y="2881821"/>
                </a:lnTo>
                <a:lnTo>
                  <a:pt x="0" y="2881821"/>
                </a:lnTo>
                <a:lnTo>
                  <a:pt x="0" y="0"/>
                </a:lnTo>
                <a:close/>
              </a:path>
            </a:pathLst>
          </a:custGeom>
          <a:blipFill>
            <a:blip r:embed="rId6"/>
            <a:stretch>
              <a:fillRect l="0" t="0" r="0" b="0"/>
            </a:stretch>
          </a:blipFill>
        </p:spPr>
      </p:sp>
      <p:sp>
        <p:nvSpPr>
          <p:cNvPr name="TextBox 12" id="12"/>
          <p:cNvSpPr txBox="true"/>
          <p:nvPr/>
        </p:nvSpPr>
        <p:spPr>
          <a:xfrm rot="0">
            <a:off x="3817228" y="1386234"/>
            <a:ext cx="7051678" cy="1597660"/>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CONVEX SETS</a:t>
            </a:r>
          </a:p>
          <a:p>
            <a:pPr algn="l">
              <a:lnSpc>
                <a:spcPts val="6439"/>
              </a:lnSpc>
            </a:pPr>
          </a:p>
        </p:txBody>
      </p:sp>
      <p:sp>
        <p:nvSpPr>
          <p:cNvPr name="TextBox 13" id="13"/>
          <p:cNvSpPr txBox="true"/>
          <p:nvPr/>
        </p:nvSpPr>
        <p:spPr>
          <a:xfrm rot="0">
            <a:off x="1790709" y="8358696"/>
            <a:ext cx="10034605" cy="389256"/>
          </a:xfrm>
          <a:prstGeom prst="rect">
            <a:avLst/>
          </a:prstGeom>
        </p:spPr>
        <p:txBody>
          <a:bodyPr anchor="t" rtlCol="false" tIns="0" lIns="0" bIns="0" rIns="0">
            <a:spAutoFit/>
          </a:bodyPr>
          <a:lstStyle/>
          <a:p>
            <a:pPr algn="just">
              <a:lnSpc>
                <a:spcPts val="3219"/>
              </a:lnSpc>
            </a:pPr>
            <a:r>
              <a:rPr lang="en-US" sz="2299">
                <a:solidFill>
                  <a:srgbClr val="000000"/>
                </a:solidFill>
                <a:latin typeface="JetBrains Mono"/>
                <a:ea typeface="JetBrains Mono"/>
                <a:cs typeface="JetBrains Mono"/>
                <a:sym typeface="JetBrains Mono"/>
              </a:rPr>
              <a:t>The first set is nonconvex and th</a:t>
            </a:r>
            <a:r>
              <a:rPr lang="en-US" sz="2299">
                <a:solidFill>
                  <a:srgbClr val="000000"/>
                </a:solidFill>
                <a:latin typeface="JetBrains Mono"/>
                <a:ea typeface="JetBrains Mono"/>
                <a:cs typeface="JetBrains Mono"/>
                <a:sym typeface="JetBrains Mono"/>
              </a:rPr>
              <a:t>e other </a:t>
            </a:r>
            <a:r>
              <a:rPr lang="en-US" sz="2299">
                <a:solidFill>
                  <a:srgbClr val="000000"/>
                </a:solidFill>
                <a:latin typeface="JetBrains Mono"/>
                <a:ea typeface="JetBrains Mono"/>
                <a:cs typeface="JetBrains Mono"/>
                <a:sym typeface="JetBrains Mono"/>
              </a:rPr>
              <a:t>two </a:t>
            </a:r>
            <a:r>
              <a:rPr lang="en-US" sz="2299">
                <a:solidFill>
                  <a:srgbClr val="000000"/>
                </a:solidFill>
                <a:latin typeface="JetBrains Mono"/>
                <a:ea typeface="JetBrains Mono"/>
                <a:cs typeface="JetBrains Mono"/>
                <a:sym typeface="JetBrains Mono"/>
              </a:rPr>
              <a:t>a</a:t>
            </a:r>
            <a:r>
              <a:rPr lang="en-US" sz="2299">
                <a:solidFill>
                  <a:srgbClr val="000000"/>
                </a:solidFill>
                <a:latin typeface="JetBrains Mono"/>
                <a:ea typeface="JetBrains Mono"/>
                <a:cs typeface="JetBrains Mono"/>
                <a:sym typeface="JetBrains Mono"/>
              </a:rPr>
              <a:t>re c</a:t>
            </a:r>
            <a:r>
              <a:rPr lang="en-US" sz="2299">
                <a:solidFill>
                  <a:srgbClr val="000000"/>
                </a:solidFill>
                <a:latin typeface="JetBrains Mono"/>
                <a:ea typeface="JetBrains Mono"/>
                <a:cs typeface="JetBrains Mono"/>
                <a:sym typeface="JetBrains Mono"/>
              </a:rPr>
              <a:t>onvex</a:t>
            </a:r>
            <a:r>
              <a:rPr lang="en-US" sz="2299">
                <a:solidFill>
                  <a:srgbClr val="000000"/>
                </a:solidFill>
                <a:latin typeface="JetBrains Mono"/>
                <a:ea typeface="JetBrains Mono"/>
                <a:cs typeface="JetBrains Mono"/>
                <a:sym typeface="JetBrains Mono"/>
              </a:rPr>
              <a: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182108"/>
            <a:ext cx="16230600" cy="1581150"/>
          </a:xfrm>
          <a:prstGeom prst="rect">
            <a:avLst/>
          </a:prstGeom>
        </p:spPr>
        <p:txBody>
          <a:bodyPr anchor="t" rtlCol="false" tIns="0" lIns="0" bIns="0" rIns="0">
            <a:spAutoFit/>
          </a:bodyPr>
          <a:lstStyle/>
          <a:p>
            <a:pPr algn="just">
              <a:lnSpc>
                <a:spcPts val="4200"/>
              </a:lnSpc>
            </a:pPr>
            <a:r>
              <a:rPr lang="en-US" sz="3000">
                <a:solidFill>
                  <a:srgbClr val="000000"/>
                </a:solidFill>
                <a:latin typeface="JetBrains Mono"/>
                <a:ea typeface="JetBrains Mono"/>
                <a:cs typeface="JetBrains Mono"/>
                <a:sym typeface="JetBrains Mono"/>
              </a:rPr>
              <a:t>Now that we have convex sets we can introduce convex functions f. Given </a:t>
            </a:r>
            <a:r>
              <a:rPr lang="en-US" sz="3000">
                <a:solidFill>
                  <a:srgbClr val="000000"/>
                </a:solidFill>
                <a:latin typeface="JetBrains Mono"/>
                <a:ea typeface="JetBrains Mono"/>
                <a:cs typeface="JetBrains Mono"/>
                <a:sym typeface="JetBrains Mono"/>
              </a:rPr>
              <a:t>a co</a:t>
            </a:r>
            <a:r>
              <a:rPr lang="en-US" sz="3000">
                <a:solidFill>
                  <a:srgbClr val="000000"/>
                </a:solidFill>
                <a:latin typeface="JetBrains Mono"/>
                <a:ea typeface="JetBrains Mono"/>
                <a:cs typeface="JetBrains Mono"/>
                <a:sym typeface="JetBrains Mono"/>
              </a:rPr>
              <a:t>nv</a:t>
            </a:r>
            <a:r>
              <a:rPr lang="en-US" sz="3000">
                <a:solidFill>
                  <a:srgbClr val="000000"/>
                </a:solidFill>
                <a:latin typeface="JetBrains Mono"/>
                <a:ea typeface="JetBrains Mono"/>
                <a:cs typeface="JetBrains Mono"/>
                <a:sym typeface="JetBrains Mono"/>
              </a:rPr>
              <a:t>ex s</a:t>
            </a:r>
            <a:r>
              <a:rPr lang="en-US" sz="3000">
                <a:solidFill>
                  <a:srgbClr val="000000"/>
                </a:solidFill>
                <a:latin typeface="JetBrains Mono"/>
                <a:ea typeface="JetBrains Mono"/>
                <a:cs typeface="JetBrains Mono"/>
                <a:sym typeface="JetBrains Mono"/>
              </a:rPr>
              <a:t>et X, a function f:X→R is convex if for </a:t>
            </a:r>
            <a:r>
              <a:rPr lang="en-US" sz="3000">
                <a:solidFill>
                  <a:srgbClr val="000000"/>
                </a:solidFill>
                <a:latin typeface="JetBrains Mono"/>
                <a:ea typeface="JetBrains Mono"/>
                <a:cs typeface="JetBrains Mono"/>
                <a:sym typeface="JetBrains Mono"/>
              </a:rPr>
              <a:t>a</a:t>
            </a:r>
            <a:r>
              <a:rPr lang="en-US" sz="3000">
                <a:solidFill>
                  <a:srgbClr val="000000"/>
                </a:solidFill>
                <a:latin typeface="JetBrains Mono"/>
                <a:ea typeface="JetBrains Mono"/>
                <a:cs typeface="JetBrains Mono"/>
                <a:sym typeface="JetBrains Mono"/>
              </a:rPr>
              <a:t>ll x,x′∈X an</a:t>
            </a:r>
            <a:r>
              <a:rPr lang="en-US" sz="3000">
                <a:solidFill>
                  <a:srgbClr val="000000"/>
                </a:solidFill>
                <a:latin typeface="JetBrains Mono"/>
                <a:ea typeface="JetBrains Mono"/>
                <a:cs typeface="JetBrains Mono"/>
                <a:sym typeface="JetBrains Mono"/>
              </a:rPr>
              <a:t>d</a:t>
            </a:r>
            <a:r>
              <a:rPr lang="en-US" sz="3000">
                <a:solidFill>
                  <a:srgbClr val="000000"/>
                </a:solidFill>
                <a:latin typeface="JetBrains Mono"/>
                <a:ea typeface="JetBrains Mono"/>
                <a:cs typeface="JetBrains Mono"/>
                <a:sym typeface="JetBrains Mono"/>
              </a:rPr>
              <a:t> for</a:t>
            </a:r>
            <a:r>
              <a:rPr lang="en-US" sz="3000">
                <a:solidFill>
                  <a:srgbClr val="000000"/>
                </a:solidFill>
                <a:latin typeface="JetBrains Mono"/>
                <a:ea typeface="JetBrains Mono"/>
                <a:cs typeface="JetBrains Mono"/>
                <a:sym typeface="JetBrains Mono"/>
              </a:rPr>
              <a:t> </a:t>
            </a:r>
            <a:r>
              <a:rPr lang="en-US" sz="3000">
                <a:solidFill>
                  <a:srgbClr val="000000"/>
                </a:solidFill>
                <a:latin typeface="JetBrains Mono"/>
                <a:ea typeface="JetBrains Mono"/>
                <a:cs typeface="JetBrains Mono"/>
                <a:sym typeface="JetBrains Mono"/>
              </a:rPr>
              <a:t>all λ∈[0,1] we have</a:t>
            </a:r>
          </a:p>
        </p:txBody>
      </p:sp>
      <p:sp>
        <p:nvSpPr>
          <p:cNvPr name="Freeform 10" id="10"/>
          <p:cNvSpPr/>
          <p:nvPr/>
        </p:nvSpPr>
        <p:spPr>
          <a:xfrm flipH="false" flipV="false" rot="0">
            <a:off x="15215886" y="833817"/>
            <a:ext cx="2520898" cy="2520898"/>
          </a:xfrm>
          <a:custGeom>
            <a:avLst/>
            <a:gdLst/>
            <a:ahLst/>
            <a:cxnLst/>
            <a:rect r="r" b="b" t="t" l="l"/>
            <a:pathLst>
              <a:path h="2520898" w="2520898">
                <a:moveTo>
                  <a:pt x="0" y="0"/>
                </a:moveTo>
                <a:lnTo>
                  <a:pt x="2520898" y="0"/>
                </a:lnTo>
                <a:lnTo>
                  <a:pt x="2520898" y="2520898"/>
                </a:lnTo>
                <a:lnTo>
                  <a:pt x="0" y="25208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1" id="11"/>
          <p:cNvPicPr>
            <a:picLocks noChangeAspect="true"/>
          </p:cNvPicPr>
          <p:nvPr/>
        </p:nvPicPr>
        <p:blipFill>
          <a:blip r:embed="rId6"/>
          <a:stretch>
            <a:fillRect/>
          </a:stretch>
        </p:blipFill>
        <p:spPr>
          <a:xfrm rot="0">
            <a:off x="1938832" y="4208903"/>
            <a:ext cx="9738360" cy="2093735"/>
          </a:xfrm>
          <a:prstGeom prst="rect">
            <a:avLst/>
          </a:prstGeom>
        </p:spPr>
      </p:pic>
      <p:sp>
        <p:nvSpPr>
          <p:cNvPr name="Freeform 12" id="12"/>
          <p:cNvSpPr/>
          <p:nvPr/>
        </p:nvSpPr>
        <p:spPr>
          <a:xfrm flipH="false" flipV="false" rot="0">
            <a:off x="1157382" y="5652770"/>
            <a:ext cx="11301259" cy="4124960"/>
          </a:xfrm>
          <a:custGeom>
            <a:avLst/>
            <a:gdLst/>
            <a:ahLst/>
            <a:cxnLst/>
            <a:rect r="r" b="b" t="t" l="l"/>
            <a:pathLst>
              <a:path h="4124960" w="11301259">
                <a:moveTo>
                  <a:pt x="0" y="0"/>
                </a:moveTo>
                <a:lnTo>
                  <a:pt x="11301259" y="0"/>
                </a:lnTo>
                <a:lnTo>
                  <a:pt x="11301259" y="4124960"/>
                </a:lnTo>
                <a:lnTo>
                  <a:pt x="0" y="4124960"/>
                </a:lnTo>
                <a:lnTo>
                  <a:pt x="0" y="0"/>
                </a:lnTo>
                <a:close/>
              </a:path>
            </a:pathLst>
          </a:custGeom>
          <a:blipFill>
            <a:blip r:embed="rId7"/>
            <a:stretch>
              <a:fillRect l="0" t="0" r="0" b="0"/>
            </a:stretch>
          </a:blipFill>
        </p:spPr>
      </p:sp>
      <p:sp>
        <p:nvSpPr>
          <p:cNvPr name="TextBox 13" id="13"/>
          <p:cNvSpPr txBox="true"/>
          <p:nvPr/>
        </p:nvSpPr>
        <p:spPr>
          <a:xfrm rot="0">
            <a:off x="3817228" y="1386234"/>
            <a:ext cx="7051678" cy="1597660"/>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CONVEX FUNCTIONS</a:t>
            </a:r>
          </a:p>
          <a:p>
            <a:pPr algn="l">
              <a:lnSpc>
                <a:spcPts val="643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7366736"/>
            <a:chOff x="0" y="0"/>
            <a:chExt cx="5157348" cy="1940210"/>
          </a:xfrm>
        </p:grpSpPr>
        <p:sp>
          <p:nvSpPr>
            <p:cNvPr name="Freeform 7" id="7"/>
            <p:cNvSpPr/>
            <p:nvPr/>
          </p:nvSpPr>
          <p:spPr>
            <a:xfrm flipH="false" flipV="false" rot="0">
              <a:off x="0" y="0"/>
              <a:ext cx="5157348" cy="1940210"/>
            </a:xfrm>
            <a:custGeom>
              <a:avLst/>
              <a:gdLst/>
              <a:ahLst/>
              <a:cxnLst/>
              <a:rect r="r" b="b" t="t" l="l"/>
              <a:pathLst>
                <a:path h="1940210" w="5157348">
                  <a:moveTo>
                    <a:pt x="0" y="0"/>
                  </a:moveTo>
                  <a:lnTo>
                    <a:pt x="5157348" y="0"/>
                  </a:lnTo>
                  <a:lnTo>
                    <a:pt x="5157348" y="1940210"/>
                  </a:lnTo>
                  <a:lnTo>
                    <a:pt x="0" y="1940210"/>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97831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182108"/>
            <a:ext cx="16230600" cy="1581150"/>
          </a:xfrm>
          <a:prstGeom prst="rect">
            <a:avLst/>
          </a:prstGeom>
        </p:spPr>
        <p:txBody>
          <a:bodyPr anchor="t" rtlCol="false" tIns="0" lIns="0" bIns="0" rIns="0">
            <a:spAutoFit/>
          </a:bodyPr>
          <a:lstStyle/>
          <a:p>
            <a:pPr algn="just">
              <a:lnSpc>
                <a:spcPts val="4200"/>
              </a:lnSpc>
            </a:pPr>
            <a:r>
              <a:rPr lang="en-US" sz="3000">
                <a:solidFill>
                  <a:srgbClr val="000000"/>
                </a:solidFill>
                <a:latin typeface="JetBrains Mono"/>
                <a:ea typeface="JetBrains Mono"/>
                <a:cs typeface="JetBrains Mono"/>
                <a:sym typeface="JetBrains Mono"/>
              </a:rPr>
              <a:t>Given a convex function f, one of</a:t>
            </a:r>
            <a:r>
              <a:rPr lang="en-US" sz="3000">
                <a:solidFill>
                  <a:srgbClr val="000000"/>
                </a:solidFill>
                <a:latin typeface="JetBrains Mono"/>
                <a:ea typeface="JetBrains Mono"/>
                <a:cs typeface="JetBrains Mono"/>
                <a:sym typeface="JetBrains Mono"/>
              </a:rPr>
              <a:t> the mos</a:t>
            </a:r>
            <a:r>
              <a:rPr lang="en-US" sz="3000">
                <a:solidFill>
                  <a:srgbClr val="000000"/>
                </a:solidFill>
                <a:latin typeface="JetBrains Mono"/>
                <a:ea typeface="JetBrains Mono"/>
                <a:cs typeface="JetBrains Mono"/>
                <a:sym typeface="JetBrains Mono"/>
              </a:rPr>
              <a:t>t useful mathematical tools is Jensen’s inequ</a:t>
            </a:r>
            <a:r>
              <a:rPr lang="en-US" sz="3000">
                <a:solidFill>
                  <a:srgbClr val="000000"/>
                </a:solidFill>
                <a:latin typeface="JetBrains Mono"/>
                <a:ea typeface="JetBrains Mono"/>
                <a:cs typeface="JetBrains Mono"/>
                <a:sym typeface="JetBrains Mono"/>
              </a:rPr>
              <a:t>a</a:t>
            </a:r>
            <a:r>
              <a:rPr lang="en-US" sz="3000">
                <a:solidFill>
                  <a:srgbClr val="000000"/>
                </a:solidFill>
                <a:latin typeface="JetBrains Mono"/>
                <a:ea typeface="JetBrains Mono"/>
                <a:cs typeface="JetBrains Mono"/>
                <a:sym typeface="JetBrains Mono"/>
              </a:rPr>
              <a:t>lity. It amounts to a generalization of the definition of convexity:</a:t>
            </a:r>
          </a:p>
        </p:txBody>
      </p:sp>
      <p:sp>
        <p:nvSpPr>
          <p:cNvPr name="Freeform 10" id="10"/>
          <p:cNvSpPr/>
          <p:nvPr/>
        </p:nvSpPr>
        <p:spPr>
          <a:xfrm flipH="false" flipV="false" rot="0">
            <a:off x="15215886" y="833817"/>
            <a:ext cx="2520898" cy="2520898"/>
          </a:xfrm>
          <a:custGeom>
            <a:avLst/>
            <a:gdLst/>
            <a:ahLst/>
            <a:cxnLst/>
            <a:rect r="r" b="b" t="t" l="l"/>
            <a:pathLst>
              <a:path h="2520898" w="2520898">
                <a:moveTo>
                  <a:pt x="0" y="0"/>
                </a:moveTo>
                <a:lnTo>
                  <a:pt x="2520898" y="0"/>
                </a:lnTo>
                <a:lnTo>
                  <a:pt x="2520898" y="2520898"/>
                </a:lnTo>
                <a:lnTo>
                  <a:pt x="0" y="25208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169667" y="5234401"/>
            <a:ext cx="11622012" cy="1512925"/>
          </a:xfrm>
          <a:custGeom>
            <a:avLst/>
            <a:gdLst/>
            <a:ahLst/>
            <a:cxnLst/>
            <a:rect r="r" b="b" t="t" l="l"/>
            <a:pathLst>
              <a:path h="1512925" w="11622012">
                <a:moveTo>
                  <a:pt x="0" y="0"/>
                </a:moveTo>
                <a:lnTo>
                  <a:pt x="11622013" y="0"/>
                </a:lnTo>
                <a:lnTo>
                  <a:pt x="11622013" y="1512925"/>
                </a:lnTo>
                <a:lnTo>
                  <a:pt x="0" y="1512925"/>
                </a:lnTo>
                <a:lnTo>
                  <a:pt x="0" y="0"/>
                </a:lnTo>
                <a:close/>
              </a:path>
            </a:pathLst>
          </a:custGeom>
          <a:blipFill>
            <a:blip r:embed="rId6"/>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JENSEN’S INEQUALITY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313965" y="3136913"/>
            <a:ext cx="13589904" cy="563880"/>
          </a:xfrm>
          <a:prstGeom prst="rect">
            <a:avLst/>
          </a:prstGeom>
        </p:spPr>
        <p:txBody>
          <a:bodyPr anchor="t" rtlCol="false" tIns="0" lIns="0" bIns="0" rIns="0">
            <a:spAutoFit/>
          </a:bodyPr>
          <a:lstStyle/>
          <a:p>
            <a:pPr algn="l">
              <a:lnSpc>
                <a:spcPts val="4620"/>
              </a:lnSpc>
            </a:pPr>
            <a:r>
              <a:rPr lang="en-US" sz="3300" b="true">
                <a:solidFill>
                  <a:srgbClr val="000000"/>
                </a:solidFill>
                <a:latin typeface="JetBrains Mono Bold"/>
                <a:ea typeface="JetBrains Mono Bold"/>
                <a:cs typeface="JetBrains Mono Bold"/>
                <a:sym typeface="JetBrains Mono Bold"/>
              </a:rPr>
              <a:t>Local Minima Ar</a:t>
            </a:r>
            <a:r>
              <a:rPr lang="en-US" sz="3300" b="true">
                <a:solidFill>
                  <a:srgbClr val="000000"/>
                </a:solidFill>
                <a:latin typeface="JetBrains Mono Bold"/>
                <a:ea typeface="JetBrains Mono Bold"/>
                <a:cs typeface="JetBrains Mono Bold"/>
                <a:sym typeface="JetBrains Mono Bold"/>
              </a:rPr>
              <a:t>e Global Minima</a:t>
            </a:r>
          </a:p>
        </p:txBody>
      </p:sp>
      <p:sp>
        <p:nvSpPr>
          <p:cNvPr name="Freeform 10" id="10"/>
          <p:cNvSpPr/>
          <p:nvPr/>
        </p:nvSpPr>
        <p:spPr>
          <a:xfrm flipH="false" flipV="false" rot="0">
            <a:off x="14701076" y="1858044"/>
            <a:ext cx="2808915" cy="5401759"/>
          </a:xfrm>
          <a:custGeom>
            <a:avLst/>
            <a:gdLst/>
            <a:ahLst/>
            <a:cxnLst/>
            <a:rect r="r" b="b" t="t" l="l"/>
            <a:pathLst>
              <a:path h="5401759" w="2808915">
                <a:moveTo>
                  <a:pt x="0" y="0"/>
                </a:moveTo>
                <a:lnTo>
                  <a:pt x="2808915" y="0"/>
                </a:lnTo>
                <a:lnTo>
                  <a:pt x="2808915" y="5401759"/>
                </a:lnTo>
                <a:lnTo>
                  <a:pt x="0" y="5401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391865" y="4178015"/>
            <a:ext cx="11301259" cy="3898934"/>
          </a:xfrm>
          <a:custGeom>
            <a:avLst/>
            <a:gdLst/>
            <a:ahLst/>
            <a:cxnLst/>
            <a:rect r="r" b="b" t="t" l="l"/>
            <a:pathLst>
              <a:path h="3898934" w="11301259">
                <a:moveTo>
                  <a:pt x="0" y="0"/>
                </a:moveTo>
                <a:lnTo>
                  <a:pt x="11301259" y="0"/>
                </a:lnTo>
                <a:lnTo>
                  <a:pt x="11301259" y="3898934"/>
                </a:lnTo>
                <a:lnTo>
                  <a:pt x="0" y="3898934"/>
                </a:lnTo>
                <a:lnTo>
                  <a:pt x="0" y="0"/>
                </a:lnTo>
                <a:close/>
              </a:path>
            </a:pathLst>
          </a:custGeom>
          <a:blipFill>
            <a:blip r:embed="rId6"/>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KEY PROPERTY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872040" y="3724366"/>
            <a:ext cx="7871943" cy="1212828"/>
          </a:xfrm>
          <a:custGeom>
            <a:avLst/>
            <a:gdLst/>
            <a:ahLst/>
            <a:cxnLst/>
            <a:rect r="r" b="b" t="t" l="l"/>
            <a:pathLst>
              <a:path h="1212828" w="7871943">
                <a:moveTo>
                  <a:pt x="0" y="0"/>
                </a:moveTo>
                <a:lnTo>
                  <a:pt x="7871943" y="0"/>
                </a:lnTo>
                <a:lnTo>
                  <a:pt x="7871943" y="1212828"/>
                </a:lnTo>
                <a:lnTo>
                  <a:pt x="0" y="1212828"/>
                </a:lnTo>
                <a:lnTo>
                  <a:pt x="0" y="0"/>
                </a:lnTo>
                <a:close/>
              </a:path>
            </a:pathLst>
          </a:custGeom>
          <a:blipFill>
            <a:blip r:embed="rId4"/>
            <a:stretch>
              <a:fillRect l="0" t="0" r="0" b="0"/>
            </a:stretch>
          </a:blipFill>
        </p:spPr>
      </p:sp>
      <p:sp>
        <p:nvSpPr>
          <p:cNvPr name="TextBox 10" id="10"/>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CONSTRAINT</a:t>
            </a:r>
          </a:p>
        </p:txBody>
      </p:sp>
      <p:sp>
        <p:nvSpPr>
          <p:cNvPr name="Freeform 11" id="11"/>
          <p:cNvSpPr/>
          <p:nvPr/>
        </p:nvSpPr>
        <p:spPr>
          <a:xfrm flipH="true" flipV="false" rot="1530765">
            <a:off x="15177166" y="362074"/>
            <a:ext cx="2151102" cy="5945256"/>
          </a:xfrm>
          <a:custGeom>
            <a:avLst/>
            <a:gdLst/>
            <a:ahLst/>
            <a:cxnLst/>
            <a:rect r="r" b="b" t="t" l="l"/>
            <a:pathLst>
              <a:path h="5945256" w="2151102">
                <a:moveTo>
                  <a:pt x="2151102" y="0"/>
                </a:moveTo>
                <a:lnTo>
                  <a:pt x="0" y="0"/>
                </a:lnTo>
                <a:lnTo>
                  <a:pt x="0" y="5945256"/>
                </a:lnTo>
                <a:lnTo>
                  <a:pt x="2151102" y="5945256"/>
                </a:lnTo>
                <a:lnTo>
                  <a:pt x="215110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2613543" y="5444163"/>
            <a:ext cx="7420868" cy="1661795"/>
          </a:xfrm>
          <a:prstGeom prst="rect">
            <a:avLst/>
          </a:prstGeom>
        </p:spPr>
        <p:txBody>
          <a:bodyPr anchor="t" rtlCol="false" tIns="0" lIns="0" bIns="0" rIns="0">
            <a:spAutoFit/>
          </a:bodyPr>
          <a:lstStyle/>
          <a:p>
            <a:pPr algn="l">
              <a:lnSpc>
                <a:spcPts val="4480"/>
              </a:lnSpc>
            </a:pPr>
            <a:r>
              <a:rPr lang="en-US" sz="3200">
                <a:solidFill>
                  <a:srgbClr val="000000"/>
                </a:solidFill>
                <a:latin typeface="JetBrains Mono"/>
                <a:ea typeface="JetBrains Mono"/>
                <a:cs typeface="JetBrains Mono"/>
                <a:sym typeface="JetBrains Mono"/>
              </a:rPr>
              <a:t>Where:</a:t>
            </a:r>
          </a:p>
          <a:p>
            <a:pPr algn="l" marL="690881" indent="-345440" lvl="1">
              <a:lnSpc>
                <a:spcPts val="4480"/>
              </a:lnSpc>
              <a:buFont typeface="Arial"/>
              <a:buChar char="•"/>
            </a:pPr>
            <a:r>
              <a:rPr lang="en-US" sz="3200">
                <a:solidFill>
                  <a:srgbClr val="000000"/>
                </a:solidFill>
                <a:latin typeface="JetBrains Mono"/>
                <a:ea typeface="JetBrains Mono"/>
                <a:cs typeface="JetBrains Mono"/>
                <a:sym typeface="JetBrains Mono"/>
              </a:rPr>
              <a:t>f(x): objective functions</a:t>
            </a:r>
          </a:p>
          <a:p>
            <a:pPr algn="l" marL="690881" indent="-345440" lvl="1">
              <a:lnSpc>
                <a:spcPts val="4480"/>
              </a:lnSpc>
              <a:buFont typeface="Arial"/>
              <a:buChar char="•"/>
            </a:pPr>
            <a:r>
              <a:rPr lang="en-US" sz="3200">
                <a:solidFill>
                  <a:srgbClr val="000000"/>
                </a:solidFill>
                <a:latin typeface="JetBrains Mono"/>
                <a:ea typeface="JetBrains Mono"/>
                <a:cs typeface="JetBrains Mono"/>
                <a:sym typeface="JetBrains Mono"/>
              </a:rPr>
              <a:t>c</a:t>
            </a:r>
            <a:r>
              <a:rPr lang="en-US" sz="3200">
                <a:solidFill>
                  <a:srgbClr val="000000"/>
                </a:solidFill>
                <a:latin typeface="JetBrains Mono"/>
                <a:ea typeface="JetBrains Mono"/>
                <a:cs typeface="JetBrains Mono"/>
                <a:sym typeface="JetBrains Mono"/>
              </a:rPr>
              <a:t>i</a:t>
            </a:r>
            <a:r>
              <a:rPr lang="en-US" sz="3200">
                <a:solidFill>
                  <a:srgbClr val="000000"/>
                </a:solidFill>
                <a:latin typeface="JetBrains Mono"/>
                <a:ea typeface="JetBrains Mono"/>
                <a:cs typeface="JetBrains Mono"/>
                <a:sym typeface="JetBrains Mono"/>
              </a:rPr>
              <a:t>(x): constraint functions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837784" y="3698396"/>
            <a:ext cx="7940456" cy="1720039"/>
          </a:xfrm>
          <a:custGeom>
            <a:avLst/>
            <a:gdLst/>
            <a:ahLst/>
            <a:cxnLst/>
            <a:rect r="r" b="b" t="t" l="l"/>
            <a:pathLst>
              <a:path h="1720039" w="7940456">
                <a:moveTo>
                  <a:pt x="0" y="0"/>
                </a:moveTo>
                <a:lnTo>
                  <a:pt x="7940455" y="0"/>
                </a:lnTo>
                <a:lnTo>
                  <a:pt x="7940455" y="1720039"/>
                </a:lnTo>
                <a:lnTo>
                  <a:pt x="0" y="1720039"/>
                </a:lnTo>
                <a:lnTo>
                  <a:pt x="0" y="0"/>
                </a:lnTo>
                <a:close/>
              </a:path>
            </a:pathLst>
          </a:custGeom>
          <a:blipFill>
            <a:blip r:embed="rId4"/>
            <a:stretch>
              <a:fillRect l="0" t="0" r="0" b="0"/>
            </a:stretch>
          </a:blipFill>
        </p:spPr>
      </p:sp>
      <p:sp>
        <p:nvSpPr>
          <p:cNvPr name="Freeform 10" id="10"/>
          <p:cNvSpPr/>
          <p:nvPr/>
        </p:nvSpPr>
        <p:spPr>
          <a:xfrm flipH="false" flipV="false" rot="0">
            <a:off x="1157382" y="5819775"/>
            <a:ext cx="11301259" cy="2274378"/>
          </a:xfrm>
          <a:custGeom>
            <a:avLst/>
            <a:gdLst/>
            <a:ahLst/>
            <a:cxnLst/>
            <a:rect r="r" b="b" t="t" l="l"/>
            <a:pathLst>
              <a:path h="2274378" w="11301259">
                <a:moveTo>
                  <a:pt x="0" y="0"/>
                </a:moveTo>
                <a:lnTo>
                  <a:pt x="11301259" y="0"/>
                </a:lnTo>
                <a:lnTo>
                  <a:pt x="11301259" y="2274378"/>
                </a:lnTo>
                <a:lnTo>
                  <a:pt x="0" y="2274378"/>
                </a:lnTo>
                <a:lnTo>
                  <a:pt x="0" y="0"/>
                </a:lnTo>
                <a:close/>
              </a:path>
            </a:pathLst>
          </a:custGeom>
          <a:blipFill>
            <a:blip r:embed="rId5"/>
            <a:stretch>
              <a:fillRect l="0" t="0" r="0" b="0"/>
            </a:stretch>
          </a:blipFill>
        </p:spPr>
      </p:sp>
      <p:sp>
        <p:nvSpPr>
          <p:cNvPr name="TextBox 11" id="11"/>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CONSTRAINT</a:t>
            </a:r>
          </a:p>
        </p:txBody>
      </p:sp>
      <p:sp>
        <p:nvSpPr>
          <p:cNvPr name="TextBox 12" id="12"/>
          <p:cNvSpPr txBox="true"/>
          <p:nvPr/>
        </p:nvSpPr>
        <p:spPr>
          <a:xfrm rot="0">
            <a:off x="1028700" y="2801756"/>
            <a:ext cx="2044452" cy="49530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Canva Sans Bold"/>
                <a:ea typeface="Canva Sans Bold"/>
                <a:cs typeface="Canva Sans Bold"/>
                <a:sym typeface="Canva Sans Bold"/>
              </a:rPr>
              <a:t>Lag</a:t>
            </a:r>
            <a:r>
              <a:rPr lang="en-US" b="true" sz="2999">
                <a:solidFill>
                  <a:srgbClr val="000000"/>
                </a:solidFill>
                <a:latin typeface="Canva Sans Bold"/>
                <a:ea typeface="Canva Sans Bold"/>
                <a:cs typeface="Canva Sans Bold"/>
                <a:sym typeface="Canva Sans Bold"/>
              </a:rPr>
              <a:t>rangian</a:t>
            </a:r>
          </a:p>
        </p:txBody>
      </p:sp>
      <p:sp>
        <p:nvSpPr>
          <p:cNvPr name="Freeform 13" id="13"/>
          <p:cNvSpPr/>
          <p:nvPr/>
        </p:nvSpPr>
        <p:spPr>
          <a:xfrm flipH="true" flipV="false" rot="1530765">
            <a:off x="15177166" y="362074"/>
            <a:ext cx="2151102" cy="5945256"/>
          </a:xfrm>
          <a:custGeom>
            <a:avLst/>
            <a:gdLst/>
            <a:ahLst/>
            <a:cxnLst/>
            <a:rect r="r" b="b" t="t" l="l"/>
            <a:pathLst>
              <a:path h="5945256" w="2151102">
                <a:moveTo>
                  <a:pt x="2151102" y="0"/>
                </a:moveTo>
                <a:lnTo>
                  <a:pt x="0" y="0"/>
                </a:lnTo>
                <a:lnTo>
                  <a:pt x="0" y="5945256"/>
                </a:lnTo>
                <a:lnTo>
                  <a:pt x="2151102" y="5945256"/>
                </a:lnTo>
                <a:lnTo>
                  <a:pt x="215110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933560" y="3948584"/>
            <a:ext cx="12819015" cy="3893776"/>
          </a:xfrm>
          <a:custGeom>
            <a:avLst/>
            <a:gdLst/>
            <a:ahLst/>
            <a:cxnLst/>
            <a:rect r="r" b="b" t="t" l="l"/>
            <a:pathLst>
              <a:path h="3893776" w="12819015">
                <a:moveTo>
                  <a:pt x="0" y="0"/>
                </a:moveTo>
                <a:lnTo>
                  <a:pt x="12819015" y="0"/>
                </a:lnTo>
                <a:lnTo>
                  <a:pt x="12819015" y="3893775"/>
                </a:lnTo>
                <a:lnTo>
                  <a:pt x="0" y="3893775"/>
                </a:lnTo>
                <a:lnTo>
                  <a:pt x="0" y="0"/>
                </a:lnTo>
                <a:close/>
              </a:path>
            </a:pathLst>
          </a:custGeom>
          <a:blipFill>
            <a:blip r:embed="rId4"/>
            <a:stretch>
              <a:fillRect l="0" t="0" r="0" b="0"/>
            </a:stretch>
          </a:blipFill>
        </p:spPr>
      </p:sp>
      <p:sp>
        <p:nvSpPr>
          <p:cNvPr name="TextBox 10" id="10"/>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CONSTRAINT</a:t>
            </a:r>
          </a:p>
        </p:txBody>
      </p:sp>
      <p:sp>
        <p:nvSpPr>
          <p:cNvPr name="TextBox 11" id="11"/>
          <p:cNvSpPr txBox="true"/>
          <p:nvPr/>
        </p:nvSpPr>
        <p:spPr>
          <a:xfrm rot="0">
            <a:off x="1343323" y="2801756"/>
            <a:ext cx="1415207" cy="49530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Canva Sans Bold"/>
                <a:ea typeface="Canva Sans Bold"/>
                <a:cs typeface="Canva Sans Bold"/>
                <a:sym typeface="Canva Sans Bold"/>
              </a:rPr>
              <a:t>Penalty</a:t>
            </a:r>
          </a:p>
        </p:txBody>
      </p:sp>
      <p:sp>
        <p:nvSpPr>
          <p:cNvPr name="Freeform 12" id="12"/>
          <p:cNvSpPr/>
          <p:nvPr/>
        </p:nvSpPr>
        <p:spPr>
          <a:xfrm flipH="true" flipV="false" rot="1530765">
            <a:off x="15177166" y="362074"/>
            <a:ext cx="2151102" cy="5945256"/>
          </a:xfrm>
          <a:custGeom>
            <a:avLst/>
            <a:gdLst/>
            <a:ahLst/>
            <a:cxnLst/>
            <a:rect r="r" b="b" t="t" l="l"/>
            <a:pathLst>
              <a:path h="5945256" w="2151102">
                <a:moveTo>
                  <a:pt x="2151102" y="0"/>
                </a:moveTo>
                <a:lnTo>
                  <a:pt x="0" y="0"/>
                </a:lnTo>
                <a:lnTo>
                  <a:pt x="0" y="5945256"/>
                </a:lnTo>
                <a:lnTo>
                  <a:pt x="2151102" y="5945256"/>
                </a:lnTo>
                <a:lnTo>
                  <a:pt x="215110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46902" y="2532643"/>
            <a:ext cx="19581804" cy="6725657"/>
            <a:chOff x="0" y="0"/>
            <a:chExt cx="5157348" cy="1771366"/>
          </a:xfrm>
        </p:grpSpPr>
        <p:sp>
          <p:nvSpPr>
            <p:cNvPr name="Freeform 4" id="4"/>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5" id="5"/>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1530765">
            <a:off x="15177166" y="362074"/>
            <a:ext cx="2151102" cy="5945256"/>
          </a:xfrm>
          <a:custGeom>
            <a:avLst/>
            <a:gdLst/>
            <a:ahLst/>
            <a:cxnLst/>
            <a:rect r="r" b="b" t="t" l="l"/>
            <a:pathLst>
              <a:path h="5945256" w="2151102">
                <a:moveTo>
                  <a:pt x="2151102" y="0"/>
                </a:moveTo>
                <a:lnTo>
                  <a:pt x="0" y="0"/>
                </a:lnTo>
                <a:lnTo>
                  <a:pt x="0" y="5945256"/>
                </a:lnTo>
                <a:lnTo>
                  <a:pt x="2151102" y="5945256"/>
                </a:lnTo>
                <a:lnTo>
                  <a:pt x="215110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079801" y="6303635"/>
            <a:ext cx="5456421" cy="909404"/>
          </a:xfrm>
          <a:custGeom>
            <a:avLst/>
            <a:gdLst/>
            <a:ahLst/>
            <a:cxnLst/>
            <a:rect r="r" b="b" t="t" l="l"/>
            <a:pathLst>
              <a:path h="909404" w="5456421">
                <a:moveTo>
                  <a:pt x="0" y="0"/>
                </a:moveTo>
                <a:lnTo>
                  <a:pt x="5456421" y="0"/>
                </a:lnTo>
                <a:lnTo>
                  <a:pt x="5456421" y="909404"/>
                </a:lnTo>
                <a:lnTo>
                  <a:pt x="0" y="909404"/>
                </a:lnTo>
                <a:lnTo>
                  <a:pt x="0" y="0"/>
                </a:lnTo>
                <a:close/>
              </a:path>
            </a:pathLst>
          </a:custGeom>
          <a:blipFill>
            <a:blip r:embed="rId6"/>
            <a:stretch>
              <a:fillRect l="0" t="0" r="0" b="0"/>
            </a:stretch>
          </a:blipFill>
        </p:spPr>
      </p:sp>
      <p:sp>
        <p:nvSpPr>
          <p:cNvPr name="Freeform 8" id="8"/>
          <p:cNvSpPr/>
          <p:nvPr/>
        </p:nvSpPr>
        <p:spPr>
          <a:xfrm flipH="false" flipV="false" rot="0">
            <a:off x="3906801" y="4176430"/>
            <a:ext cx="5802421" cy="967070"/>
          </a:xfrm>
          <a:custGeom>
            <a:avLst/>
            <a:gdLst/>
            <a:ahLst/>
            <a:cxnLst/>
            <a:rect r="r" b="b" t="t" l="l"/>
            <a:pathLst>
              <a:path h="967070" w="5802421">
                <a:moveTo>
                  <a:pt x="0" y="0"/>
                </a:moveTo>
                <a:lnTo>
                  <a:pt x="5802421" y="0"/>
                </a:lnTo>
                <a:lnTo>
                  <a:pt x="5802421" y="967070"/>
                </a:lnTo>
                <a:lnTo>
                  <a:pt x="0" y="967070"/>
                </a:lnTo>
                <a:lnTo>
                  <a:pt x="0" y="0"/>
                </a:lnTo>
                <a:close/>
              </a:path>
            </a:pathLst>
          </a:custGeom>
          <a:blipFill>
            <a:blip r:embed="rId7"/>
            <a:stretch>
              <a:fillRect l="0" t="0" r="0" b="0"/>
            </a:stretch>
          </a:blipFill>
        </p:spPr>
      </p:sp>
      <p:sp>
        <p:nvSpPr>
          <p:cNvPr name="TextBox 9" id="9"/>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CONSTRAINT</a:t>
            </a:r>
          </a:p>
        </p:txBody>
      </p:sp>
      <p:sp>
        <p:nvSpPr>
          <p:cNvPr name="TextBox 10" id="10"/>
          <p:cNvSpPr txBox="true"/>
          <p:nvPr/>
        </p:nvSpPr>
        <p:spPr>
          <a:xfrm rot="0">
            <a:off x="990749" y="2801756"/>
            <a:ext cx="2120354" cy="49530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Canva Sans Bold"/>
                <a:ea typeface="Canva Sans Bold"/>
                <a:cs typeface="Canva Sans Bold"/>
                <a:sym typeface="Canva Sans Bold"/>
              </a:rPr>
              <a:t>Projections</a:t>
            </a:r>
          </a:p>
        </p:txBody>
      </p:sp>
      <p:sp>
        <p:nvSpPr>
          <p:cNvPr name="TextBox 11" id="11"/>
          <p:cNvSpPr txBox="true"/>
          <p:nvPr/>
        </p:nvSpPr>
        <p:spPr>
          <a:xfrm rot="0">
            <a:off x="1623804" y="3415550"/>
            <a:ext cx="1872109" cy="49530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Canva Sans Bold"/>
                <a:ea typeface="Canva Sans Bold"/>
                <a:cs typeface="Canva Sans Bold"/>
                <a:sym typeface="Canva Sans Bold"/>
              </a:rPr>
              <a:t>Definition</a:t>
            </a:r>
          </a:p>
        </p:txBody>
      </p:sp>
      <p:sp>
        <p:nvSpPr>
          <p:cNvPr name="TextBox 12" id="12"/>
          <p:cNvSpPr txBox="true"/>
          <p:nvPr/>
        </p:nvSpPr>
        <p:spPr>
          <a:xfrm rot="0">
            <a:off x="1623804" y="5400171"/>
            <a:ext cx="6063478" cy="495301"/>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Example:  Gradient Clipping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2785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EXERCISE 4: 12.1.3</a:t>
            </a:r>
          </a:p>
        </p:txBody>
      </p:sp>
      <p:sp>
        <p:nvSpPr>
          <p:cNvPr name="TextBox 10" id="10"/>
          <p:cNvSpPr txBox="true"/>
          <p:nvPr/>
        </p:nvSpPr>
        <p:spPr>
          <a:xfrm rot="0">
            <a:off x="1313965" y="2900166"/>
            <a:ext cx="15081616" cy="2114550"/>
          </a:xfrm>
          <a:prstGeom prst="rect">
            <a:avLst/>
          </a:prstGeom>
        </p:spPr>
        <p:txBody>
          <a:bodyPr anchor="t" rtlCol="false" tIns="0" lIns="0" bIns="0" rIns="0">
            <a:spAutoFit/>
          </a:bodyPr>
          <a:lstStyle/>
          <a:p>
            <a:pPr algn="l">
              <a:lnSpc>
                <a:spcPts val="4200"/>
              </a:lnSpc>
            </a:pPr>
            <a:r>
              <a:rPr lang="en-US" sz="3000" b="true">
                <a:solidFill>
                  <a:srgbClr val="000000"/>
                </a:solidFill>
                <a:latin typeface="JetBrains Mono Bold"/>
                <a:ea typeface="JetBrains Mono Bold"/>
                <a:cs typeface="JetBrains Mono Bold"/>
                <a:sym typeface="JetBrains Mono Bold"/>
              </a:rPr>
              <a:t>Assume that you want to balance a (real) ball on a (real) saddle.</a:t>
            </a:r>
          </a:p>
          <a:p>
            <a:pPr algn="l">
              <a:lnSpc>
                <a:spcPts val="4200"/>
              </a:lnSpc>
            </a:pPr>
            <a:r>
              <a:rPr lang="en-US" sz="3000" b="true">
                <a:solidFill>
                  <a:srgbClr val="000000"/>
                </a:solidFill>
                <a:latin typeface="JetBrains Mono Bold"/>
                <a:ea typeface="JetBrains Mono Bold"/>
                <a:cs typeface="JetBrains Mono Bold"/>
                <a:sym typeface="JetBrains Mono Bold"/>
              </a:rPr>
              <a:t>Why is this hard?</a:t>
            </a:r>
          </a:p>
          <a:p>
            <a:pPr algn="l">
              <a:lnSpc>
                <a:spcPts val="4200"/>
              </a:lnSpc>
            </a:pPr>
            <a:r>
              <a:rPr lang="en-US" sz="3000" b="true">
                <a:solidFill>
                  <a:srgbClr val="000000"/>
                </a:solidFill>
                <a:latin typeface="JetBrains Mono Bold"/>
                <a:ea typeface="JetBrains Mono Bold"/>
                <a:cs typeface="JetBrains Mono Bold"/>
                <a:sym typeface="JetBrains Mono Bold"/>
              </a:rPr>
              <a:t>Can you exploit this effect also for optimization algorithms?</a:t>
            </a:r>
          </a:p>
          <a:p>
            <a:pPr algn="l">
              <a:lnSpc>
                <a:spcPts val="4200"/>
              </a:lnSpc>
            </a:pPr>
          </a:p>
        </p:txBody>
      </p:sp>
      <p:sp>
        <p:nvSpPr>
          <p:cNvPr name="Freeform 11" id="11"/>
          <p:cNvSpPr/>
          <p:nvPr/>
        </p:nvSpPr>
        <p:spPr>
          <a:xfrm flipH="false" flipV="false" rot="4244569">
            <a:off x="16131428" y="794979"/>
            <a:ext cx="1893940" cy="2691645"/>
          </a:xfrm>
          <a:custGeom>
            <a:avLst/>
            <a:gdLst/>
            <a:ahLst/>
            <a:cxnLst/>
            <a:rect r="r" b="b" t="t" l="l"/>
            <a:pathLst>
              <a:path h="2691645" w="1893940">
                <a:moveTo>
                  <a:pt x="0" y="0"/>
                </a:moveTo>
                <a:lnTo>
                  <a:pt x="1893940" y="0"/>
                </a:lnTo>
                <a:lnTo>
                  <a:pt x="1893940" y="2691646"/>
                </a:lnTo>
                <a:lnTo>
                  <a:pt x="0" y="26916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313965" y="4809622"/>
            <a:ext cx="15081616" cy="21145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A saddle surface (z=x2−y2) curves:</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Upward in one direction (e.g. along the x-axis),</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Downward in another direction (e.g. along the y-axis).</a:t>
            </a:r>
          </a:p>
          <a:p>
            <a:pPr algn="l">
              <a:lnSpc>
                <a:spcPts val="4200"/>
              </a:lnSpc>
            </a:pPr>
          </a:p>
        </p:txBody>
      </p:sp>
      <p:sp>
        <p:nvSpPr>
          <p:cNvPr name="TextBox 13" id="13"/>
          <p:cNvSpPr txBox="true"/>
          <p:nvPr/>
        </p:nvSpPr>
        <p:spPr>
          <a:xfrm rot="0">
            <a:off x="1313965" y="6629400"/>
            <a:ext cx="15081616" cy="21145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So, placing a ball at the center of the saddle:</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It rolls down along the downward-curved direction,</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It’s trapped or balanced in the upward-curved direction.</a:t>
            </a:r>
          </a:p>
          <a:p>
            <a:pPr algn="l">
              <a:lnSpc>
                <a:spcPts val="4200"/>
              </a:lnSpc>
            </a:pPr>
          </a:p>
        </p:txBody>
      </p:sp>
      <p:sp>
        <p:nvSpPr>
          <p:cNvPr name="TextBox 14" id="14"/>
          <p:cNvSpPr txBox="true"/>
          <p:nvPr/>
        </p:nvSpPr>
        <p:spPr>
          <a:xfrm rot="0">
            <a:off x="1313965" y="8458200"/>
            <a:ext cx="15081616" cy="5143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=&gt; Makes the saddle unstable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2785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EXERCISE 4: 12.1.3</a:t>
            </a:r>
          </a:p>
        </p:txBody>
      </p:sp>
      <p:sp>
        <p:nvSpPr>
          <p:cNvPr name="TextBox 10" id="10"/>
          <p:cNvSpPr txBox="true"/>
          <p:nvPr/>
        </p:nvSpPr>
        <p:spPr>
          <a:xfrm rot="0">
            <a:off x="1313965" y="2900166"/>
            <a:ext cx="15081616" cy="47815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Since saddle points have negative curvature in some directions, we can:</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Use second-order methods (e.g. Newton’s method) that detect negative curvature.</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Add noise (as in SGD or Langevin dynamics) to escape flat saddle regions.</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Use algorithms like Adam, RMSprop that adapt learning rates directionally.</a:t>
            </a:r>
          </a:p>
          <a:p>
            <a:pPr algn="l">
              <a:lnSpc>
                <a:spcPts val="4200"/>
              </a:lnSpc>
            </a:pPr>
          </a:p>
        </p:txBody>
      </p:sp>
      <p:sp>
        <p:nvSpPr>
          <p:cNvPr name="Freeform 11" id="11"/>
          <p:cNvSpPr/>
          <p:nvPr/>
        </p:nvSpPr>
        <p:spPr>
          <a:xfrm flipH="false" flipV="false" rot="4244569">
            <a:off x="16131428" y="794979"/>
            <a:ext cx="1893940" cy="2691645"/>
          </a:xfrm>
          <a:custGeom>
            <a:avLst/>
            <a:gdLst/>
            <a:ahLst/>
            <a:cxnLst/>
            <a:rect r="r" b="b" t="t" l="l"/>
            <a:pathLst>
              <a:path h="2691645" w="1893940">
                <a:moveTo>
                  <a:pt x="0" y="0"/>
                </a:moveTo>
                <a:lnTo>
                  <a:pt x="1893940" y="0"/>
                </a:lnTo>
                <a:lnTo>
                  <a:pt x="1893940" y="2691646"/>
                </a:lnTo>
                <a:lnTo>
                  <a:pt x="0" y="26916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2785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EXERCISE 4: 12.1.3</a:t>
            </a:r>
          </a:p>
        </p:txBody>
      </p:sp>
      <p:sp>
        <p:nvSpPr>
          <p:cNvPr name="TextBox 10" id="10"/>
          <p:cNvSpPr txBox="true"/>
          <p:nvPr/>
        </p:nvSpPr>
        <p:spPr>
          <a:xfrm rot="0">
            <a:off x="1313965" y="2900166"/>
            <a:ext cx="15081616" cy="31813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Practical Strategies:</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Momentum helps push through flat regions or escape slow convergence at saddles.</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Hessian-vector products (used in trust-region or curvature-aware methods) can detect and escape saddles.</a:t>
            </a:r>
          </a:p>
          <a:p>
            <a:pPr algn="l">
              <a:lnSpc>
                <a:spcPts val="4200"/>
              </a:lnSpc>
            </a:pPr>
          </a:p>
        </p:txBody>
      </p:sp>
      <p:sp>
        <p:nvSpPr>
          <p:cNvPr name="Freeform 11" id="11"/>
          <p:cNvSpPr/>
          <p:nvPr/>
        </p:nvSpPr>
        <p:spPr>
          <a:xfrm flipH="false" flipV="false" rot="4244569">
            <a:off x="16131428" y="794979"/>
            <a:ext cx="1893940" cy="2691645"/>
          </a:xfrm>
          <a:custGeom>
            <a:avLst/>
            <a:gdLst/>
            <a:ahLst/>
            <a:cxnLst/>
            <a:rect r="r" b="b" t="t" l="l"/>
            <a:pathLst>
              <a:path h="2691645" w="1893940">
                <a:moveTo>
                  <a:pt x="0" y="0"/>
                </a:moveTo>
                <a:lnTo>
                  <a:pt x="1893940" y="0"/>
                </a:lnTo>
                <a:lnTo>
                  <a:pt x="1893940" y="2691646"/>
                </a:lnTo>
                <a:lnTo>
                  <a:pt x="0" y="26916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2785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592212" y="2902792"/>
            <a:ext cx="6093825" cy="5985358"/>
          </a:xfrm>
          <a:custGeom>
            <a:avLst/>
            <a:gdLst/>
            <a:ahLst/>
            <a:cxnLst/>
            <a:rect r="r" b="b" t="t" l="l"/>
            <a:pathLst>
              <a:path h="5985358" w="6093825">
                <a:moveTo>
                  <a:pt x="0" y="0"/>
                </a:moveTo>
                <a:lnTo>
                  <a:pt x="6093824" y="0"/>
                </a:lnTo>
                <a:lnTo>
                  <a:pt x="6093824" y="5985359"/>
                </a:lnTo>
                <a:lnTo>
                  <a:pt x="0" y="5985359"/>
                </a:lnTo>
                <a:lnTo>
                  <a:pt x="0" y="0"/>
                </a:lnTo>
                <a:close/>
              </a:path>
            </a:pathLst>
          </a:custGeom>
          <a:blipFill>
            <a:blip r:embed="rId4"/>
            <a:stretch>
              <a:fillRect l="0" t="0" r="0" b="0"/>
            </a:stretch>
          </a:blipFill>
        </p:spPr>
      </p:sp>
      <p:sp>
        <p:nvSpPr>
          <p:cNvPr name="Freeform 10" id="10"/>
          <p:cNvSpPr/>
          <p:nvPr/>
        </p:nvSpPr>
        <p:spPr>
          <a:xfrm flipH="false" flipV="false" rot="4244569">
            <a:off x="16131428" y="794979"/>
            <a:ext cx="1893940" cy="2691645"/>
          </a:xfrm>
          <a:custGeom>
            <a:avLst/>
            <a:gdLst/>
            <a:ahLst/>
            <a:cxnLst/>
            <a:rect r="r" b="b" t="t" l="l"/>
            <a:pathLst>
              <a:path h="2691645" w="1893940">
                <a:moveTo>
                  <a:pt x="0" y="0"/>
                </a:moveTo>
                <a:lnTo>
                  <a:pt x="1893940" y="0"/>
                </a:lnTo>
                <a:lnTo>
                  <a:pt x="1893940" y="2691646"/>
                </a:lnTo>
                <a:lnTo>
                  <a:pt x="0" y="26916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EXERCISE 4: 12.1.3</a:t>
            </a:r>
          </a:p>
        </p:txBody>
      </p:sp>
      <p:sp>
        <p:nvSpPr>
          <p:cNvPr name="TextBox 12" id="12"/>
          <p:cNvSpPr txBox="true"/>
          <p:nvPr/>
        </p:nvSpPr>
        <p:spPr>
          <a:xfrm rot="0">
            <a:off x="1313965" y="2900166"/>
            <a:ext cx="9734782" cy="5848350"/>
          </a:xfrm>
          <a:prstGeom prst="rect">
            <a:avLst/>
          </a:prstGeom>
        </p:spPr>
        <p:txBody>
          <a:bodyPr anchor="t" rtlCol="false" tIns="0" lIns="0" bIns="0" rIns="0">
            <a:spAutoFit/>
          </a:bodyPr>
          <a:lstStyle/>
          <a:p>
            <a:pPr algn="l">
              <a:lnSpc>
                <a:spcPts val="4200"/>
              </a:lnSpc>
            </a:pPr>
            <a:r>
              <a:rPr lang="en-US" sz="3000">
                <a:solidFill>
                  <a:srgbClr val="000000"/>
                </a:solidFill>
                <a:latin typeface="JetBrains Mono"/>
                <a:ea typeface="JetBrains Mono"/>
                <a:cs typeface="JetBrains Mono"/>
                <a:sym typeface="JetBrains Mono"/>
              </a:rPr>
              <a:t>Because of the saddle shape, gradient descent does not converge to a minimum. Instead:</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Th</a:t>
            </a:r>
            <a:r>
              <a:rPr lang="en-US" sz="3000">
                <a:solidFill>
                  <a:srgbClr val="000000"/>
                </a:solidFill>
                <a:latin typeface="JetBrains Mono"/>
                <a:ea typeface="JetBrains Mono"/>
                <a:cs typeface="JetBrains Mono"/>
                <a:sym typeface="JetBrains Mono"/>
              </a:rPr>
              <a:t>e x component decays toward zero, as</a:t>
            </a:r>
          </a:p>
          <a:p>
            <a:pPr algn="l">
              <a:lnSpc>
                <a:spcPts val="4200"/>
              </a:lnSpc>
            </a:pPr>
            <a:r>
              <a:rPr lang="en-US" sz="3000">
                <a:solidFill>
                  <a:srgbClr val="000000"/>
                </a:solidFill>
                <a:latin typeface="JetBrains Mono"/>
                <a:ea typeface="JetBrains Mono"/>
                <a:cs typeface="JetBrains Mono"/>
                <a:sym typeface="JetBrains Mono"/>
              </a:rPr>
              <a:t> </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The y component diverges, growing exponentially, as </a:t>
            </a:r>
          </a:p>
          <a:p>
            <a:pPr algn="l">
              <a:lnSpc>
                <a:spcPts val="4200"/>
              </a:lnSpc>
            </a:pPr>
            <a:r>
              <a:rPr lang="en-US" sz="3000">
                <a:solidFill>
                  <a:srgbClr val="000000"/>
                </a:solidFill>
                <a:latin typeface="JetBrains Mono"/>
                <a:ea typeface="JetBrains Mono"/>
                <a:cs typeface="JetBrains Mono"/>
                <a:sym typeface="JetBrains Mono"/>
              </a:rPr>
              <a:t>In this case, with       , we have:</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           — decaying</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           — growing</a:t>
            </a:r>
          </a:p>
          <a:p>
            <a:pPr algn="l">
              <a:lnSpc>
                <a:spcPts val="4200"/>
              </a:lnSpc>
            </a:pPr>
          </a:p>
        </p:txBody>
      </p:sp>
      <p:pic>
        <p:nvPicPr>
          <p:cNvPr name="Picture 13" id="13"/>
          <p:cNvPicPr>
            <a:picLocks noChangeAspect="true"/>
          </p:cNvPicPr>
          <p:nvPr/>
        </p:nvPicPr>
        <p:blipFill>
          <a:blip r:embed="rId7"/>
          <a:stretch>
            <a:fillRect/>
          </a:stretch>
        </p:blipFill>
        <p:spPr>
          <a:xfrm rot="0">
            <a:off x="1625953" y="4800287"/>
            <a:ext cx="4118551" cy="1113967"/>
          </a:xfrm>
          <a:prstGeom prst="rect">
            <a:avLst/>
          </a:prstGeom>
        </p:spPr>
      </p:pic>
      <p:pic>
        <p:nvPicPr>
          <p:cNvPr name="Picture 14" id="14"/>
          <p:cNvPicPr>
            <a:picLocks noChangeAspect="true"/>
          </p:cNvPicPr>
          <p:nvPr/>
        </p:nvPicPr>
        <p:blipFill>
          <a:blip r:embed="rId8"/>
          <a:stretch>
            <a:fillRect/>
          </a:stretch>
        </p:blipFill>
        <p:spPr>
          <a:xfrm rot="0">
            <a:off x="5723239" y="5820404"/>
            <a:ext cx="4033633" cy="1099814"/>
          </a:xfrm>
          <a:prstGeom prst="rect">
            <a:avLst/>
          </a:prstGeom>
        </p:spPr>
      </p:pic>
      <p:pic>
        <p:nvPicPr>
          <p:cNvPr name="Picture 15" id="15"/>
          <p:cNvPicPr>
            <a:picLocks noChangeAspect="true"/>
          </p:cNvPicPr>
          <p:nvPr/>
        </p:nvPicPr>
        <p:blipFill>
          <a:blip r:embed="rId9"/>
          <a:stretch>
            <a:fillRect/>
          </a:stretch>
        </p:blipFill>
        <p:spPr>
          <a:xfrm rot="0">
            <a:off x="5514845" y="6644580"/>
            <a:ext cx="1666528" cy="596200"/>
          </a:xfrm>
          <a:prstGeom prst="rect">
            <a:avLst/>
          </a:prstGeom>
        </p:spPr>
      </p:pic>
      <p:pic>
        <p:nvPicPr>
          <p:cNvPr name="Picture 16" id="16"/>
          <p:cNvPicPr>
            <a:picLocks noChangeAspect="true"/>
          </p:cNvPicPr>
          <p:nvPr/>
        </p:nvPicPr>
        <p:blipFill>
          <a:blip r:embed="rId10"/>
          <a:stretch>
            <a:fillRect/>
          </a:stretch>
        </p:blipFill>
        <p:spPr>
          <a:xfrm rot="0">
            <a:off x="1726794" y="7060311"/>
            <a:ext cx="2908462" cy="859211"/>
          </a:xfrm>
          <a:prstGeom prst="rect">
            <a:avLst/>
          </a:prstGeom>
        </p:spPr>
      </p:pic>
      <p:pic>
        <p:nvPicPr>
          <p:cNvPr name="Picture 17" id="17"/>
          <p:cNvPicPr>
            <a:picLocks noChangeAspect="true"/>
          </p:cNvPicPr>
          <p:nvPr/>
        </p:nvPicPr>
        <p:blipFill>
          <a:blip r:embed="rId11"/>
          <a:stretch>
            <a:fillRect/>
          </a:stretch>
        </p:blipFill>
        <p:spPr>
          <a:xfrm rot="0">
            <a:off x="1733871" y="7569241"/>
            <a:ext cx="2823544" cy="845058"/>
          </a:xfrm>
          <a:prstGeom prst="rect">
            <a:avLst/>
          </a:prstGeom>
        </p:spPr>
      </p:pic>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2785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592212" y="2902792"/>
            <a:ext cx="6093825" cy="5985358"/>
          </a:xfrm>
          <a:custGeom>
            <a:avLst/>
            <a:gdLst/>
            <a:ahLst/>
            <a:cxnLst/>
            <a:rect r="r" b="b" t="t" l="l"/>
            <a:pathLst>
              <a:path h="5985358" w="6093825">
                <a:moveTo>
                  <a:pt x="0" y="0"/>
                </a:moveTo>
                <a:lnTo>
                  <a:pt x="6093824" y="0"/>
                </a:lnTo>
                <a:lnTo>
                  <a:pt x="6093824" y="5985359"/>
                </a:lnTo>
                <a:lnTo>
                  <a:pt x="0" y="5985359"/>
                </a:lnTo>
                <a:lnTo>
                  <a:pt x="0" y="0"/>
                </a:lnTo>
                <a:close/>
              </a:path>
            </a:pathLst>
          </a:custGeom>
          <a:blipFill>
            <a:blip r:embed="rId4"/>
            <a:stretch>
              <a:fillRect l="0" t="0" r="0" b="0"/>
            </a:stretch>
          </a:blipFill>
        </p:spPr>
      </p:sp>
      <p:sp>
        <p:nvSpPr>
          <p:cNvPr name="Freeform 10" id="10"/>
          <p:cNvSpPr/>
          <p:nvPr/>
        </p:nvSpPr>
        <p:spPr>
          <a:xfrm flipH="false" flipV="false" rot="4244569">
            <a:off x="16131428" y="794979"/>
            <a:ext cx="1893940" cy="2691645"/>
          </a:xfrm>
          <a:custGeom>
            <a:avLst/>
            <a:gdLst/>
            <a:ahLst/>
            <a:cxnLst/>
            <a:rect r="r" b="b" t="t" l="l"/>
            <a:pathLst>
              <a:path h="2691645" w="1893940">
                <a:moveTo>
                  <a:pt x="0" y="0"/>
                </a:moveTo>
                <a:lnTo>
                  <a:pt x="1893940" y="0"/>
                </a:lnTo>
                <a:lnTo>
                  <a:pt x="1893940" y="2691646"/>
                </a:lnTo>
                <a:lnTo>
                  <a:pt x="0" y="26916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EXERCISE 4: 12.1.3</a:t>
            </a:r>
          </a:p>
        </p:txBody>
      </p:sp>
      <p:sp>
        <p:nvSpPr>
          <p:cNvPr name="TextBox 12" id="12"/>
          <p:cNvSpPr txBox="true"/>
          <p:nvPr/>
        </p:nvSpPr>
        <p:spPr>
          <a:xfrm rot="0">
            <a:off x="1313965" y="2900166"/>
            <a:ext cx="9734782" cy="5314950"/>
          </a:xfrm>
          <a:prstGeom prst="rect">
            <a:avLst/>
          </a:prstGeom>
        </p:spPr>
        <p:txBody>
          <a:bodyPr anchor="t" rtlCol="false" tIns="0" lIns="0" bIns="0" rIns="0">
            <a:spAutoFit/>
          </a:bodyPr>
          <a:lstStyle/>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A path that initially moves toward the saddle point along x, but then shoots off along the y-axis because of divergence.</a:t>
            </a:r>
          </a:p>
          <a:p>
            <a:pPr algn="l" marL="647703" indent="-323852" lvl="1">
              <a:lnSpc>
                <a:spcPts val="4200"/>
              </a:lnSpc>
              <a:buFont typeface="Arial"/>
              <a:buChar char="•"/>
            </a:pPr>
            <a:r>
              <a:rPr lang="en-US" sz="3000">
                <a:solidFill>
                  <a:srgbClr val="000000"/>
                </a:solidFill>
                <a:latin typeface="JetBrains Mono"/>
                <a:ea typeface="JetBrains Mono"/>
                <a:cs typeface="JetBrains Mono"/>
                <a:sym typeface="JetBrains Mono"/>
              </a:rPr>
              <a:t>This shows that gradient descent fails to converge on saddle points because they’re not minima, and small perturbations in the wrong direction (here, y-axis) get amplified.</a:t>
            </a:r>
          </a:p>
          <a:p>
            <a:pPr algn="l">
              <a:lnSpc>
                <a:spcPts val="4200"/>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2785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313965" y="2900166"/>
            <a:ext cx="15081616" cy="1581150"/>
          </a:xfrm>
          <a:prstGeom prst="rect">
            <a:avLst/>
          </a:prstGeom>
        </p:spPr>
        <p:txBody>
          <a:bodyPr anchor="t" rtlCol="false" tIns="0" lIns="0" bIns="0" rIns="0">
            <a:spAutoFit/>
          </a:bodyPr>
          <a:lstStyle/>
          <a:p>
            <a:pPr algn="l">
              <a:lnSpc>
                <a:spcPts val="4200"/>
              </a:lnSpc>
            </a:pPr>
            <a:r>
              <a:rPr lang="en-US" sz="3000" b="true">
                <a:solidFill>
                  <a:srgbClr val="000000"/>
                </a:solidFill>
                <a:latin typeface="JetBrains Mono Bold"/>
                <a:ea typeface="JetBrains Mono Bold"/>
                <a:cs typeface="JetBrains Mono Bold"/>
                <a:sym typeface="JetBrains Mono Bold"/>
              </a:rPr>
              <a:t>Given convex functions </a:t>
            </a:r>
            <a:r>
              <a:rPr lang="en-US" sz="3000" i="true" b="true">
                <a:solidFill>
                  <a:srgbClr val="000000"/>
                </a:solidFill>
                <a:latin typeface="JetBrains Mono Bold Italics"/>
                <a:ea typeface="JetBrains Mono Bold Italics"/>
                <a:cs typeface="JetBrains Mono Bold Italics"/>
                <a:sym typeface="JetBrains Mono Bold Italics"/>
              </a:rPr>
              <a:t>f </a:t>
            </a:r>
            <a:r>
              <a:rPr lang="en-US" sz="3000" b="true">
                <a:solidFill>
                  <a:srgbClr val="000000"/>
                </a:solidFill>
                <a:latin typeface="JetBrains Mono Bold"/>
                <a:ea typeface="JetBrains Mono Bold"/>
                <a:cs typeface="JetBrains Mono Bold"/>
                <a:sym typeface="JetBrains Mono Bold"/>
              </a:rPr>
              <a:t>and </a:t>
            </a:r>
            <a:r>
              <a:rPr lang="en-US" sz="3000" i="true" b="true">
                <a:solidFill>
                  <a:srgbClr val="000000"/>
                </a:solidFill>
                <a:latin typeface="JetBrains Mono Bold Italics"/>
                <a:ea typeface="JetBrains Mono Bold Italics"/>
                <a:cs typeface="JetBrains Mono Bold Italics"/>
                <a:sym typeface="JetBrains Mono Bold Italics"/>
              </a:rPr>
              <a:t>g</a:t>
            </a:r>
            <a:r>
              <a:rPr lang="en-US" sz="3000" b="true">
                <a:solidFill>
                  <a:srgbClr val="000000"/>
                </a:solidFill>
                <a:latin typeface="JetBrains Mono Bold"/>
                <a:ea typeface="JetBrains Mono Bold"/>
                <a:cs typeface="JetBrains Mono Bold"/>
                <a:sym typeface="JetBrains Mono Bold"/>
              </a:rPr>
              <a:t>, show that </a:t>
            </a:r>
            <a:r>
              <a:rPr lang="en-US" sz="3000" i="true" b="true">
                <a:solidFill>
                  <a:srgbClr val="000000"/>
                </a:solidFill>
                <a:latin typeface="JetBrains Mono Bold Italics"/>
                <a:ea typeface="JetBrains Mono Bold Italics"/>
                <a:cs typeface="JetBrains Mono Bold Italics"/>
                <a:sym typeface="JetBrains Mono Bold Italics"/>
              </a:rPr>
              <a:t>max(f,g)</a:t>
            </a:r>
            <a:r>
              <a:rPr lang="en-US" sz="3000" b="true">
                <a:solidFill>
                  <a:srgbClr val="000000"/>
                </a:solidFill>
                <a:latin typeface="JetBrains Mono Bold"/>
                <a:ea typeface="JetBrains Mono Bold"/>
                <a:cs typeface="JetBrains Mono Bold"/>
                <a:sym typeface="JetBrains Mono Bold"/>
              </a:rPr>
              <a:t> is convex, too. Prove that </a:t>
            </a:r>
            <a:r>
              <a:rPr lang="en-US" sz="3000" i="true" b="true">
                <a:solidFill>
                  <a:srgbClr val="000000"/>
                </a:solidFill>
                <a:latin typeface="JetBrains Mono Bold Italics"/>
                <a:ea typeface="JetBrains Mono Bold Italics"/>
                <a:cs typeface="JetBrains Mono Bold Italics"/>
                <a:sym typeface="JetBrains Mono Bold Italics"/>
              </a:rPr>
              <a:t>min(f,g)</a:t>
            </a:r>
            <a:r>
              <a:rPr lang="en-US" sz="3000" b="true">
                <a:solidFill>
                  <a:srgbClr val="000000"/>
                </a:solidFill>
                <a:latin typeface="JetBrains Mono Bold"/>
                <a:ea typeface="JetBrains Mono Bold"/>
                <a:cs typeface="JetBrains Mono Bold"/>
                <a:sym typeface="JetBrains Mono Bold"/>
              </a:rPr>
              <a:t> is not convex.</a:t>
            </a:r>
          </a:p>
          <a:p>
            <a:pPr algn="l">
              <a:lnSpc>
                <a:spcPts val="4200"/>
              </a:lnSpc>
            </a:pPr>
          </a:p>
        </p:txBody>
      </p:sp>
      <p:sp>
        <p:nvSpPr>
          <p:cNvPr name="Freeform 10" id="10"/>
          <p:cNvSpPr/>
          <p:nvPr/>
        </p:nvSpPr>
        <p:spPr>
          <a:xfrm flipH="false" flipV="false" rot="4244569">
            <a:off x="16131428" y="794979"/>
            <a:ext cx="1893940" cy="2691645"/>
          </a:xfrm>
          <a:custGeom>
            <a:avLst/>
            <a:gdLst/>
            <a:ahLst/>
            <a:cxnLst/>
            <a:rect r="r" b="b" t="t" l="l"/>
            <a:pathLst>
              <a:path h="2691645" w="1893940">
                <a:moveTo>
                  <a:pt x="0" y="0"/>
                </a:moveTo>
                <a:lnTo>
                  <a:pt x="1893940" y="0"/>
                </a:lnTo>
                <a:lnTo>
                  <a:pt x="1893940" y="2691646"/>
                </a:lnTo>
                <a:lnTo>
                  <a:pt x="0" y="26916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313965" y="4070474"/>
            <a:ext cx="10278943" cy="4959590"/>
          </a:xfrm>
          <a:custGeom>
            <a:avLst/>
            <a:gdLst/>
            <a:ahLst/>
            <a:cxnLst/>
            <a:rect r="r" b="b" t="t" l="l"/>
            <a:pathLst>
              <a:path h="4959590" w="10278943">
                <a:moveTo>
                  <a:pt x="0" y="0"/>
                </a:moveTo>
                <a:lnTo>
                  <a:pt x="10278943" y="0"/>
                </a:lnTo>
                <a:lnTo>
                  <a:pt x="10278943" y="4959590"/>
                </a:lnTo>
                <a:lnTo>
                  <a:pt x="0" y="4959590"/>
                </a:lnTo>
                <a:lnTo>
                  <a:pt x="0" y="0"/>
                </a:lnTo>
                <a:close/>
              </a:path>
            </a:pathLst>
          </a:custGeom>
          <a:blipFill>
            <a:blip r:embed="rId6"/>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EXERCISE 3: 12.2.4</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2785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313965" y="2900166"/>
            <a:ext cx="15081616" cy="1581150"/>
          </a:xfrm>
          <a:prstGeom prst="rect">
            <a:avLst/>
          </a:prstGeom>
        </p:spPr>
        <p:txBody>
          <a:bodyPr anchor="t" rtlCol="false" tIns="0" lIns="0" bIns="0" rIns="0">
            <a:spAutoFit/>
          </a:bodyPr>
          <a:lstStyle/>
          <a:p>
            <a:pPr algn="l">
              <a:lnSpc>
                <a:spcPts val="4200"/>
              </a:lnSpc>
            </a:pPr>
            <a:r>
              <a:rPr lang="en-US" sz="3000" b="true">
                <a:solidFill>
                  <a:srgbClr val="000000"/>
                </a:solidFill>
                <a:latin typeface="JetBrains Mono Bold"/>
                <a:ea typeface="JetBrains Mono Bold"/>
                <a:cs typeface="JetBrains Mono Bold"/>
                <a:sym typeface="JetBrains Mono Bold"/>
              </a:rPr>
              <a:t>Given convex functions </a:t>
            </a:r>
            <a:r>
              <a:rPr lang="en-US" sz="3000" i="true" b="true">
                <a:solidFill>
                  <a:srgbClr val="000000"/>
                </a:solidFill>
                <a:latin typeface="JetBrains Mono Bold Italics"/>
                <a:ea typeface="JetBrains Mono Bold Italics"/>
                <a:cs typeface="JetBrains Mono Bold Italics"/>
                <a:sym typeface="JetBrains Mono Bold Italics"/>
              </a:rPr>
              <a:t>f </a:t>
            </a:r>
            <a:r>
              <a:rPr lang="en-US" sz="3000" b="true">
                <a:solidFill>
                  <a:srgbClr val="000000"/>
                </a:solidFill>
                <a:latin typeface="JetBrains Mono Bold"/>
                <a:ea typeface="JetBrains Mono Bold"/>
                <a:cs typeface="JetBrains Mono Bold"/>
                <a:sym typeface="JetBrains Mono Bold"/>
              </a:rPr>
              <a:t>and </a:t>
            </a:r>
            <a:r>
              <a:rPr lang="en-US" sz="3000" i="true" b="true">
                <a:solidFill>
                  <a:srgbClr val="000000"/>
                </a:solidFill>
                <a:latin typeface="JetBrains Mono Bold Italics"/>
                <a:ea typeface="JetBrains Mono Bold Italics"/>
                <a:cs typeface="JetBrains Mono Bold Italics"/>
                <a:sym typeface="JetBrains Mono Bold Italics"/>
              </a:rPr>
              <a:t>g</a:t>
            </a:r>
            <a:r>
              <a:rPr lang="en-US" sz="3000" b="true">
                <a:solidFill>
                  <a:srgbClr val="000000"/>
                </a:solidFill>
                <a:latin typeface="JetBrains Mono Bold"/>
                <a:ea typeface="JetBrains Mono Bold"/>
                <a:cs typeface="JetBrains Mono Bold"/>
                <a:sym typeface="JetBrains Mono Bold"/>
              </a:rPr>
              <a:t>, show that </a:t>
            </a:r>
            <a:r>
              <a:rPr lang="en-US" sz="3000" i="true" b="true">
                <a:solidFill>
                  <a:srgbClr val="000000"/>
                </a:solidFill>
                <a:latin typeface="JetBrains Mono Bold Italics"/>
                <a:ea typeface="JetBrains Mono Bold Italics"/>
                <a:cs typeface="JetBrains Mono Bold Italics"/>
                <a:sym typeface="JetBrains Mono Bold Italics"/>
              </a:rPr>
              <a:t>max(f,g)</a:t>
            </a:r>
            <a:r>
              <a:rPr lang="en-US" sz="3000" b="true">
                <a:solidFill>
                  <a:srgbClr val="000000"/>
                </a:solidFill>
                <a:latin typeface="JetBrains Mono Bold"/>
                <a:ea typeface="JetBrains Mono Bold"/>
                <a:cs typeface="JetBrains Mono Bold"/>
                <a:sym typeface="JetBrains Mono Bold"/>
              </a:rPr>
              <a:t> is convex, too. Prove that </a:t>
            </a:r>
            <a:r>
              <a:rPr lang="en-US" sz="3000" i="true" b="true">
                <a:solidFill>
                  <a:srgbClr val="000000"/>
                </a:solidFill>
                <a:latin typeface="JetBrains Mono Bold Italics"/>
                <a:ea typeface="JetBrains Mono Bold Italics"/>
                <a:cs typeface="JetBrains Mono Bold Italics"/>
                <a:sym typeface="JetBrains Mono Bold Italics"/>
              </a:rPr>
              <a:t>min(f,g)</a:t>
            </a:r>
            <a:r>
              <a:rPr lang="en-US" sz="3000" b="true">
                <a:solidFill>
                  <a:srgbClr val="000000"/>
                </a:solidFill>
                <a:latin typeface="JetBrains Mono Bold"/>
                <a:ea typeface="JetBrains Mono Bold"/>
                <a:cs typeface="JetBrains Mono Bold"/>
                <a:sym typeface="JetBrains Mono Bold"/>
              </a:rPr>
              <a:t> is not convex.</a:t>
            </a:r>
          </a:p>
          <a:p>
            <a:pPr algn="l">
              <a:lnSpc>
                <a:spcPts val="4200"/>
              </a:lnSpc>
            </a:pPr>
          </a:p>
        </p:txBody>
      </p:sp>
      <p:sp>
        <p:nvSpPr>
          <p:cNvPr name="Freeform 10" id="10"/>
          <p:cNvSpPr/>
          <p:nvPr/>
        </p:nvSpPr>
        <p:spPr>
          <a:xfrm flipH="false" flipV="false" rot="4244569">
            <a:off x="16131428" y="794979"/>
            <a:ext cx="1893940" cy="2691645"/>
          </a:xfrm>
          <a:custGeom>
            <a:avLst/>
            <a:gdLst/>
            <a:ahLst/>
            <a:cxnLst/>
            <a:rect r="r" b="b" t="t" l="l"/>
            <a:pathLst>
              <a:path h="2691645" w="1893940">
                <a:moveTo>
                  <a:pt x="0" y="0"/>
                </a:moveTo>
                <a:lnTo>
                  <a:pt x="1893940" y="0"/>
                </a:lnTo>
                <a:lnTo>
                  <a:pt x="1893940" y="2691646"/>
                </a:lnTo>
                <a:lnTo>
                  <a:pt x="0" y="26916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313965" y="4256789"/>
            <a:ext cx="11301259" cy="3277365"/>
          </a:xfrm>
          <a:custGeom>
            <a:avLst/>
            <a:gdLst/>
            <a:ahLst/>
            <a:cxnLst/>
            <a:rect r="r" b="b" t="t" l="l"/>
            <a:pathLst>
              <a:path h="3277365" w="11301259">
                <a:moveTo>
                  <a:pt x="0" y="0"/>
                </a:moveTo>
                <a:lnTo>
                  <a:pt x="11301259" y="0"/>
                </a:lnTo>
                <a:lnTo>
                  <a:pt x="11301259" y="3277365"/>
                </a:lnTo>
                <a:lnTo>
                  <a:pt x="0" y="3277365"/>
                </a:lnTo>
                <a:lnTo>
                  <a:pt x="0" y="0"/>
                </a:lnTo>
                <a:close/>
              </a:path>
            </a:pathLst>
          </a:custGeom>
          <a:blipFill>
            <a:blip r:embed="rId6"/>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EXERCISE 3: 12.2.4</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27852" y="2532643"/>
            <a:ext cx="19581804" cy="6725657"/>
            <a:chOff x="0" y="0"/>
            <a:chExt cx="5157348" cy="1771366"/>
          </a:xfrm>
        </p:grpSpPr>
        <p:sp>
          <p:nvSpPr>
            <p:cNvPr name="Freeform 7" id="7"/>
            <p:cNvSpPr/>
            <p:nvPr/>
          </p:nvSpPr>
          <p:spPr>
            <a:xfrm flipH="false" flipV="false" rot="0">
              <a:off x="0" y="0"/>
              <a:ext cx="5157348" cy="1771366"/>
            </a:xfrm>
            <a:custGeom>
              <a:avLst/>
              <a:gdLst/>
              <a:ahLst/>
              <a:cxnLst/>
              <a:rect r="r" b="b" t="t" l="l"/>
              <a:pathLst>
                <a:path h="1771366" w="5157348">
                  <a:moveTo>
                    <a:pt x="0" y="0"/>
                  </a:moveTo>
                  <a:lnTo>
                    <a:pt x="5157348" y="0"/>
                  </a:lnTo>
                  <a:lnTo>
                    <a:pt x="5157348" y="1771366"/>
                  </a:lnTo>
                  <a:lnTo>
                    <a:pt x="0" y="1771366"/>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80946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313965" y="2900166"/>
            <a:ext cx="15081616" cy="1581150"/>
          </a:xfrm>
          <a:prstGeom prst="rect">
            <a:avLst/>
          </a:prstGeom>
        </p:spPr>
        <p:txBody>
          <a:bodyPr anchor="t" rtlCol="false" tIns="0" lIns="0" bIns="0" rIns="0">
            <a:spAutoFit/>
          </a:bodyPr>
          <a:lstStyle/>
          <a:p>
            <a:pPr algn="l">
              <a:lnSpc>
                <a:spcPts val="4200"/>
              </a:lnSpc>
            </a:pPr>
            <a:r>
              <a:rPr lang="en-US" sz="3000" b="true">
                <a:solidFill>
                  <a:srgbClr val="000000"/>
                </a:solidFill>
                <a:latin typeface="JetBrains Mono Bold"/>
                <a:ea typeface="JetBrains Mono Bold"/>
                <a:cs typeface="JetBrains Mono Bold"/>
                <a:sym typeface="JetBrains Mono Bold"/>
              </a:rPr>
              <a:t>Given convex functions </a:t>
            </a:r>
            <a:r>
              <a:rPr lang="en-US" sz="3000" i="true" b="true">
                <a:solidFill>
                  <a:srgbClr val="000000"/>
                </a:solidFill>
                <a:latin typeface="JetBrains Mono Bold Italics"/>
                <a:ea typeface="JetBrains Mono Bold Italics"/>
                <a:cs typeface="JetBrains Mono Bold Italics"/>
                <a:sym typeface="JetBrains Mono Bold Italics"/>
              </a:rPr>
              <a:t>f </a:t>
            </a:r>
            <a:r>
              <a:rPr lang="en-US" sz="3000" b="true">
                <a:solidFill>
                  <a:srgbClr val="000000"/>
                </a:solidFill>
                <a:latin typeface="JetBrains Mono Bold"/>
                <a:ea typeface="JetBrains Mono Bold"/>
                <a:cs typeface="JetBrains Mono Bold"/>
                <a:sym typeface="JetBrains Mono Bold"/>
              </a:rPr>
              <a:t>and </a:t>
            </a:r>
            <a:r>
              <a:rPr lang="en-US" sz="3000" i="true" b="true">
                <a:solidFill>
                  <a:srgbClr val="000000"/>
                </a:solidFill>
                <a:latin typeface="JetBrains Mono Bold Italics"/>
                <a:ea typeface="JetBrains Mono Bold Italics"/>
                <a:cs typeface="JetBrains Mono Bold Italics"/>
                <a:sym typeface="JetBrains Mono Bold Italics"/>
              </a:rPr>
              <a:t>g</a:t>
            </a:r>
            <a:r>
              <a:rPr lang="en-US" sz="3000" b="true">
                <a:solidFill>
                  <a:srgbClr val="000000"/>
                </a:solidFill>
                <a:latin typeface="JetBrains Mono Bold"/>
                <a:ea typeface="JetBrains Mono Bold"/>
                <a:cs typeface="JetBrains Mono Bold"/>
                <a:sym typeface="JetBrains Mono Bold"/>
              </a:rPr>
              <a:t>, show that </a:t>
            </a:r>
            <a:r>
              <a:rPr lang="en-US" sz="3000" i="true" b="true">
                <a:solidFill>
                  <a:srgbClr val="000000"/>
                </a:solidFill>
                <a:latin typeface="JetBrains Mono Bold Italics"/>
                <a:ea typeface="JetBrains Mono Bold Italics"/>
                <a:cs typeface="JetBrains Mono Bold Italics"/>
                <a:sym typeface="JetBrains Mono Bold Italics"/>
              </a:rPr>
              <a:t>max(f,g)</a:t>
            </a:r>
            <a:r>
              <a:rPr lang="en-US" sz="3000" b="true">
                <a:solidFill>
                  <a:srgbClr val="000000"/>
                </a:solidFill>
                <a:latin typeface="JetBrains Mono Bold"/>
                <a:ea typeface="JetBrains Mono Bold"/>
                <a:cs typeface="JetBrains Mono Bold"/>
                <a:sym typeface="JetBrains Mono Bold"/>
              </a:rPr>
              <a:t> is convex, too. Prove that </a:t>
            </a:r>
            <a:r>
              <a:rPr lang="en-US" sz="3000" i="true" b="true">
                <a:solidFill>
                  <a:srgbClr val="000000"/>
                </a:solidFill>
                <a:latin typeface="JetBrains Mono Bold Italics"/>
                <a:ea typeface="JetBrains Mono Bold Italics"/>
                <a:cs typeface="JetBrains Mono Bold Italics"/>
                <a:sym typeface="JetBrains Mono Bold Italics"/>
              </a:rPr>
              <a:t>min(f,g)</a:t>
            </a:r>
            <a:r>
              <a:rPr lang="en-US" sz="3000" b="true">
                <a:solidFill>
                  <a:srgbClr val="000000"/>
                </a:solidFill>
                <a:latin typeface="JetBrains Mono Bold"/>
                <a:ea typeface="JetBrains Mono Bold"/>
                <a:cs typeface="JetBrains Mono Bold"/>
                <a:sym typeface="JetBrains Mono Bold"/>
              </a:rPr>
              <a:t> is not convex.</a:t>
            </a:r>
          </a:p>
          <a:p>
            <a:pPr algn="l">
              <a:lnSpc>
                <a:spcPts val="4200"/>
              </a:lnSpc>
            </a:pPr>
          </a:p>
        </p:txBody>
      </p:sp>
      <p:sp>
        <p:nvSpPr>
          <p:cNvPr name="Freeform 10" id="10"/>
          <p:cNvSpPr/>
          <p:nvPr/>
        </p:nvSpPr>
        <p:spPr>
          <a:xfrm flipH="false" flipV="false" rot="4244569">
            <a:off x="16131428" y="794979"/>
            <a:ext cx="1893940" cy="2691645"/>
          </a:xfrm>
          <a:custGeom>
            <a:avLst/>
            <a:gdLst/>
            <a:ahLst/>
            <a:cxnLst/>
            <a:rect r="r" b="b" t="t" l="l"/>
            <a:pathLst>
              <a:path h="2691645" w="1893940">
                <a:moveTo>
                  <a:pt x="0" y="0"/>
                </a:moveTo>
                <a:lnTo>
                  <a:pt x="1893940" y="0"/>
                </a:lnTo>
                <a:lnTo>
                  <a:pt x="1893940" y="2691646"/>
                </a:lnTo>
                <a:lnTo>
                  <a:pt x="0" y="26916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286064" y="4092827"/>
            <a:ext cx="11301259" cy="4421618"/>
          </a:xfrm>
          <a:custGeom>
            <a:avLst/>
            <a:gdLst/>
            <a:ahLst/>
            <a:cxnLst/>
            <a:rect r="r" b="b" t="t" l="l"/>
            <a:pathLst>
              <a:path h="4421618" w="11301259">
                <a:moveTo>
                  <a:pt x="0" y="0"/>
                </a:moveTo>
                <a:lnTo>
                  <a:pt x="11301259" y="0"/>
                </a:lnTo>
                <a:lnTo>
                  <a:pt x="11301259" y="4421617"/>
                </a:lnTo>
                <a:lnTo>
                  <a:pt x="0" y="4421617"/>
                </a:lnTo>
                <a:lnTo>
                  <a:pt x="0" y="0"/>
                </a:lnTo>
                <a:close/>
              </a:path>
            </a:pathLst>
          </a:custGeom>
          <a:blipFill>
            <a:blip r:embed="rId6"/>
            <a:stretch>
              <a:fillRect l="0" t="0" r="0" b="0"/>
            </a:stretch>
          </a:blipFill>
        </p:spPr>
      </p:sp>
      <p:sp>
        <p:nvSpPr>
          <p:cNvPr name="TextBox 12" id="12"/>
          <p:cNvSpPr txBox="true"/>
          <p:nvPr/>
        </p:nvSpPr>
        <p:spPr>
          <a:xfrm rot="0">
            <a:off x="3817228" y="1386234"/>
            <a:ext cx="7051678"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EXERCISE 3: 12.2.4</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5857284"/>
            <a:chOff x="0" y="0"/>
            <a:chExt cx="5157348" cy="1542659"/>
          </a:xfrm>
        </p:grpSpPr>
        <p:sp>
          <p:nvSpPr>
            <p:cNvPr name="Freeform 7" id="7"/>
            <p:cNvSpPr/>
            <p:nvPr/>
          </p:nvSpPr>
          <p:spPr>
            <a:xfrm flipH="false" flipV="false" rot="0">
              <a:off x="0" y="0"/>
              <a:ext cx="5157348" cy="1542659"/>
            </a:xfrm>
            <a:custGeom>
              <a:avLst/>
              <a:gdLst/>
              <a:ahLst/>
              <a:cxnLst/>
              <a:rect r="r" b="b" t="t" l="l"/>
              <a:pathLst>
                <a:path h="1542659" w="5157348">
                  <a:moveTo>
                    <a:pt x="0" y="0"/>
                  </a:moveTo>
                  <a:lnTo>
                    <a:pt x="5157348" y="0"/>
                  </a:lnTo>
                  <a:lnTo>
                    <a:pt x="5157348" y="1542659"/>
                  </a:lnTo>
                  <a:lnTo>
                    <a:pt x="0" y="1542659"/>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580759"/>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1023349">
            <a:off x="-1505583" y="4964887"/>
            <a:ext cx="3902895" cy="4856544"/>
          </a:xfrm>
          <a:custGeom>
            <a:avLst/>
            <a:gdLst/>
            <a:ahLst/>
            <a:cxnLst/>
            <a:rect r="r" b="b" t="t" l="l"/>
            <a:pathLst>
              <a:path h="4856544" w="3902895">
                <a:moveTo>
                  <a:pt x="0" y="0"/>
                </a:moveTo>
                <a:lnTo>
                  <a:pt x="3902895" y="0"/>
                </a:lnTo>
                <a:lnTo>
                  <a:pt x="3902895" y="4856544"/>
                </a:lnTo>
                <a:lnTo>
                  <a:pt x="0" y="48565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4244569">
            <a:off x="15467281" y="1013610"/>
            <a:ext cx="3584039" cy="5093595"/>
          </a:xfrm>
          <a:custGeom>
            <a:avLst/>
            <a:gdLst/>
            <a:ahLst/>
            <a:cxnLst/>
            <a:rect r="r" b="b" t="t" l="l"/>
            <a:pathLst>
              <a:path h="5093595" w="3584039">
                <a:moveTo>
                  <a:pt x="0" y="0"/>
                </a:moveTo>
                <a:lnTo>
                  <a:pt x="3584038" y="0"/>
                </a:lnTo>
                <a:lnTo>
                  <a:pt x="3584038" y="5093596"/>
                </a:lnTo>
                <a:lnTo>
                  <a:pt x="0" y="5093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11" id="11"/>
          <p:cNvPicPr>
            <a:picLocks noChangeAspect="true"/>
          </p:cNvPicPr>
          <p:nvPr/>
        </p:nvPicPr>
        <p:blipFill>
          <a:blip r:embed="rId8"/>
          <a:srcRect l="0" t="0" r="0" b="0"/>
          <a:stretch>
            <a:fillRect/>
          </a:stretch>
        </p:blipFill>
        <p:spPr>
          <a:xfrm flipH="false" flipV="false" rot="0">
            <a:off x="4928219" y="3064708"/>
            <a:ext cx="7431246" cy="4793154"/>
          </a:xfrm>
          <a:prstGeom prst="rect">
            <a:avLst/>
          </a:prstGeom>
        </p:spPr>
      </p:pic>
      <p:sp>
        <p:nvSpPr>
          <p:cNvPr name="TextBox 12" id="12"/>
          <p:cNvSpPr txBox="true"/>
          <p:nvPr/>
        </p:nvSpPr>
        <p:spPr>
          <a:xfrm rot="0">
            <a:off x="4343846" y="1204511"/>
            <a:ext cx="5806945" cy="1193800"/>
          </a:xfrm>
          <a:prstGeom prst="rect">
            <a:avLst/>
          </a:prstGeom>
        </p:spPr>
        <p:txBody>
          <a:bodyPr anchor="t" rtlCol="false" tIns="0" lIns="0" bIns="0" rIns="0">
            <a:spAutoFit/>
          </a:bodyPr>
          <a:lstStyle/>
          <a:p>
            <a:pPr algn="l">
              <a:lnSpc>
                <a:spcPts val="9799"/>
              </a:lnSpc>
            </a:pPr>
            <a:r>
              <a:rPr lang="en-US" sz="6999">
                <a:solidFill>
                  <a:srgbClr val="000000"/>
                </a:solidFill>
                <a:latin typeface="Intro"/>
                <a:ea typeface="Intro"/>
                <a:cs typeface="Intro"/>
                <a:sym typeface="Intro"/>
              </a:rPr>
              <a:t>Q&amp;A</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1558623" cy="10549871"/>
          </a:xfrm>
          <a:custGeom>
            <a:avLst/>
            <a:gdLst/>
            <a:ahLst/>
            <a:cxnLst/>
            <a:rect r="r" b="b" t="t" l="l"/>
            <a:pathLst>
              <a:path h="10549871" w="11558623">
                <a:moveTo>
                  <a:pt x="0" y="0"/>
                </a:moveTo>
                <a:lnTo>
                  <a:pt x="11558623" y="0"/>
                </a:lnTo>
                <a:lnTo>
                  <a:pt x="11558623" y="10549871"/>
                </a:lnTo>
                <a:lnTo>
                  <a:pt x="0" y="10549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5865" y="7715250"/>
            <a:ext cx="13193259" cy="3086100"/>
            <a:chOff x="0" y="0"/>
            <a:chExt cx="3474768" cy="812800"/>
          </a:xfrm>
        </p:grpSpPr>
        <p:sp>
          <p:nvSpPr>
            <p:cNvPr name="Freeform 4" id="4"/>
            <p:cNvSpPr/>
            <p:nvPr/>
          </p:nvSpPr>
          <p:spPr>
            <a:xfrm flipH="false" flipV="false" rot="0">
              <a:off x="0" y="0"/>
              <a:ext cx="3474768" cy="812800"/>
            </a:xfrm>
            <a:custGeom>
              <a:avLst/>
              <a:gdLst/>
              <a:ahLst/>
              <a:cxnLst/>
              <a:rect r="r" b="b" t="t" l="l"/>
              <a:pathLst>
                <a:path h="812800" w="3474768">
                  <a:moveTo>
                    <a:pt x="0" y="0"/>
                  </a:moveTo>
                  <a:lnTo>
                    <a:pt x="3474768" y="0"/>
                  </a:lnTo>
                  <a:lnTo>
                    <a:pt x="3474768" y="812800"/>
                  </a:lnTo>
                  <a:lnTo>
                    <a:pt x="0" y="812800"/>
                  </a:lnTo>
                  <a:close/>
                </a:path>
              </a:pathLst>
            </a:custGeom>
            <a:solidFill>
              <a:srgbClr val="FFF6EA"/>
            </a:solidFill>
          </p:spPr>
        </p:sp>
        <p:sp>
          <p:nvSpPr>
            <p:cNvPr name="TextBox 5" id="5"/>
            <p:cNvSpPr txBox="true"/>
            <p:nvPr/>
          </p:nvSpPr>
          <p:spPr>
            <a:xfrm>
              <a:off x="0" y="-38100"/>
              <a:ext cx="3474768"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6902" y="2532643"/>
            <a:ext cx="19581804" cy="5857284"/>
            <a:chOff x="0" y="0"/>
            <a:chExt cx="5157348" cy="1542659"/>
          </a:xfrm>
        </p:grpSpPr>
        <p:sp>
          <p:nvSpPr>
            <p:cNvPr name="Freeform 7" id="7"/>
            <p:cNvSpPr/>
            <p:nvPr/>
          </p:nvSpPr>
          <p:spPr>
            <a:xfrm flipH="false" flipV="false" rot="0">
              <a:off x="0" y="0"/>
              <a:ext cx="5157348" cy="1542659"/>
            </a:xfrm>
            <a:custGeom>
              <a:avLst/>
              <a:gdLst/>
              <a:ahLst/>
              <a:cxnLst/>
              <a:rect r="r" b="b" t="t" l="l"/>
              <a:pathLst>
                <a:path h="1542659" w="5157348">
                  <a:moveTo>
                    <a:pt x="0" y="0"/>
                  </a:moveTo>
                  <a:lnTo>
                    <a:pt x="5157348" y="0"/>
                  </a:lnTo>
                  <a:lnTo>
                    <a:pt x="5157348" y="1542659"/>
                  </a:lnTo>
                  <a:lnTo>
                    <a:pt x="0" y="1542659"/>
                  </a:lnTo>
                  <a:close/>
                </a:path>
              </a:pathLst>
            </a:custGeom>
            <a:solidFill>
              <a:srgbClr val="FFFFFF"/>
            </a:solidFill>
            <a:ln w="95250" cap="sq">
              <a:solidFill>
                <a:srgbClr val="383E48"/>
              </a:solidFill>
              <a:prstDash val="solid"/>
              <a:miter/>
            </a:ln>
          </p:spPr>
        </p:sp>
        <p:sp>
          <p:nvSpPr>
            <p:cNvPr name="TextBox 8" id="8"/>
            <p:cNvSpPr txBox="true"/>
            <p:nvPr/>
          </p:nvSpPr>
          <p:spPr>
            <a:xfrm>
              <a:off x="0" y="-38100"/>
              <a:ext cx="5157348" cy="1580759"/>
            </a:xfrm>
            <a:prstGeom prst="rect">
              <a:avLst/>
            </a:prstGeom>
          </p:spPr>
          <p:txBody>
            <a:bodyPr anchor="ctr" rtlCol="false" tIns="50800" lIns="50800" bIns="50800" rIns="50800"/>
            <a:lstStyle/>
            <a:p>
              <a:pPr algn="ctr">
                <a:lnSpc>
                  <a:spcPts val="2659"/>
                </a:lnSpc>
                <a:spcBef>
                  <a:spcPct val="0"/>
                </a:spcBef>
              </a:pPr>
            </a:p>
          </p:txBody>
        </p:sp>
      </p:grpSp>
      <p:pic>
        <p:nvPicPr>
          <p:cNvPr name="Picture 9" id="9"/>
          <p:cNvPicPr>
            <a:picLocks noChangeAspect="true"/>
          </p:cNvPicPr>
          <p:nvPr/>
        </p:nvPicPr>
        <p:blipFill>
          <a:blip r:embed="rId4"/>
          <a:srcRect l="0" t="0" r="0" b="0"/>
          <a:stretch>
            <a:fillRect/>
          </a:stretch>
        </p:blipFill>
        <p:spPr>
          <a:xfrm flipH="false" flipV="false" rot="0">
            <a:off x="6509046" y="2689220"/>
            <a:ext cx="5544129" cy="5544129"/>
          </a:xfrm>
          <a:prstGeom prst="rect">
            <a:avLst/>
          </a:prstGeom>
        </p:spPr>
      </p:pic>
      <p:sp>
        <p:nvSpPr>
          <p:cNvPr name="TextBox 10" id="10"/>
          <p:cNvSpPr txBox="true"/>
          <p:nvPr/>
        </p:nvSpPr>
        <p:spPr>
          <a:xfrm rot="0">
            <a:off x="3474165" y="1436340"/>
            <a:ext cx="5806945" cy="788035"/>
          </a:xfrm>
          <a:prstGeom prst="rect">
            <a:avLst/>
          </a:prstGeom>
        </p:spPr>
        <p:txBody>
          <a:bodyPr anchor="t" rtlCol="false" tIns="0" lIns="0" bIns="0" rIns="0">
            <a:spAutoFit/>
          </a:bodyPr>
          <a:lstStyle/>
          <a:p>
            <a:pPr algn="l">
              <a:lnSpc>
                <a:spcPts val="6439"/>
              </a:lnSpc>
            </a:pPr>
            <a:r>
              <a:rPr lang="en-US" sz="4599">
                <a:solidFill>
                  <a:srgbClr val="000000"/>
                </a:solidFill>
                <a:latin typeface="Intro"/>
                <a:ea typeface="Intro"/>
                <a:cs typeface="Intro"/>
                <a:sym typeface="Intr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DAGmxa1cH3w</dc:identifier>
  <dcterms:modified xsi:type="dcterms:W3CDTF">2011-08-01T06:04:30Z</dcterms:modified>
  <cp:revision>1</cp:revision>
  <dc:title>Convexity</dc:title>
</cp:coreProperties>
</file>